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Noto Sans CJK SC"/>
              </a:rPr>
              <a:t>Double-tap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buNone/>
            </a:pPr>
            <a:fld id="{DEB5320F-0E2F-4724-9A1F-F40942B25D11}" type="slidenum"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dt" idx="4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1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大家好，欢迎参加“经典游戏回廊”项目的汇报。今天，我们将向大家展示一个集合了七款经典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HTML5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小游戏的网页平台。本次汇报将重点介绍我们的技术架构、团队协作过程以及项目成果。希望通过这次分享，能让大家对我们的项目有一个全面而深入的了解。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ftr" idx="5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 type="sldNum" idx="6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dt" idx="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7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首先，让我们了解一下项目的整体情况。我们的项目名为“经典游戏回廊”，是一个集合了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7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款大家耳熟能详的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HTML5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小游戏的网页平台。我们的目标是提供一站式的怀旧游戏体验，并且通过响应式设计，让用户在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PC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和移动端都能流畅游玩。平台采用了独特的七彩流光视觉风格，并配备了智能搜索功能。这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7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款游戏由李少华和李振豪同学负责开发，具体分工如页面下方所示。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69" name="PlaceHolder 5"/>
          <p:cNvSpPr>
            <a:spLocks noGrp="1"/>
          </p:cNvSpPr>
          <p:nvPr>
            <p:ph type="ftr" idx="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0" name="PlaceHolder 6"/>
          <p:cNvSpPr>
            <a:spLocks noGrp="1"/>
          </p:cNvSpPr>
          <p:nvPr>
            <p:ph type="sldNum" idx="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dt" idx="1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3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在项目启动前，我们进行了详细的需求分析。功能需求方面，我们定义了游戏大厅和各个游戏的核心功能点，并明确了优先级和负责人。例如，游戏大厅的卡片展示和跳转是最高优先级的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P0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需求。非功能需求则关注性能、兼容性和用户体验，我们要求游戏帧率不低于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60fps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，以保证流畅的游戏感受。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 type="ftr" idx="1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6" name="PlaceHolder 6"/>
          <p:cNvSpPr>
            <a:spLocks noGrp="1"/>
          </p:cNvSpPr>
          <p:nvPr>
            <p:ph type="sldNum" idx="1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dt" idx="1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79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我们的技术选型完全基于前端技术。架构上分为界面层、游戏层、数据层和工具链。界面层使用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HTML5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和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CSS3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实现响应式布局和毛玻璃效果。游戏层是核心，通过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Canvas API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进行高效渲染，并使用原生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JavaScript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实现游戏逻辑。数据层利用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LocalStorage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存储最高分。所有代码都通过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Git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进行版本控制，确保了开发流程的规范和高效。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ftr" idx="1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2" name="PlaceHolder 6"/>
          <p:cNvSpPr>
            <a:spLocks noGrp="1"/>
          </p:cNvSpPr>
          <p:nvPr>
            <p:ph type="sldNum" idx="1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dt" idx="1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5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为了高效完成项目，我们进行了明确的团队分工。李想作为项目整合者，负责代码的最终集成和接口统一。李玥峰负责前端界面的开发。游戏部分由李少华和李振豪同学分别负责，其中李少华开发了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5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款，李振豪开发了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2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款。我本人则负责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PPT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制作和文档整理。从工作量统计可以看出，游戏开发是本次项目的核心工作。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ftr" idx="1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88" name="PlaceHolder 6"/>
          <p:cNvSpPr>
            <a:spLocks noGrp="1"/>
          </p:cNvSpPr>
          <p:nvPr>
            <p:ph type="sldNum" idx="1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dt" idx="1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1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接下来，我们来看一些关键代码。首先是由李玥峰同学负责的游戏回廊界面。这里展示了游戏卡片的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HTML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结构和搜索筛选的核心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JavaScript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代码。通过遍历卡片并检查名称和描述是否包含搜索关键词，实现了实时筛选功能，大大提升了用户查找游戏的效率。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3" name="PlaceHolder 5"/>
          <p:cNvSpPr>
            <a:spLocks noGrp="1"/>
          </p:cNvSpPr>
          <p:nvPr>
            <p:ph type="ftr" idx="2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4" name="PlaceHolder 6"/>
          <p:cNvSpPr>
            <a:spLocks noGrp="1"/>
          </p:cNvSpPr>
          <p:nvPr>
            <p:ph type="sldNum" idx="2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dt" idx="2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7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这是李少华同学开发的小恐龙跑酷的核心代码。我们可以看到，游戏使用了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requestAnimationFrame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来驱动主循环，保证了动画的流畅性。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checkCollision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函数实现了经典的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AABB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矩形碰撞检测算法，这是判断小恐龙是否撞到障碍物的关键。整个游戏逻辑清晰，结构完整。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ftr" idx="2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 type="sldNum" idx="2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dt" idx="2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3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这是李振豪同学负责的俄罗斯方块。代码中定义了游戏的核心数据结构，如代表棋盘的二维数组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board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，以及代表七种方块的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TETROMINOS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数组。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clearLines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函数是游戏的精髓之一，它通过遍历棋盘，检测并消除满行，并将上方的方块下移，实现了经典的消除效果。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 type="ftr" idx="2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6" name="PlaceHolder 6"/>
          <p:cNvSpPr>
            <a:spLocks noGrp="1"/>
          </p:cNvSpPr>
          <p:nvPr>
            <p:ph type="sldNum" idx="2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dt" idx="2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09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最后是李想同学负责的代码整合部分。他设计了一个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GameHub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类作为应用的入口，通过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registerGame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和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loadGame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方法，实现了对所有游戏的统一管理和动态加载。这种模块化的设计确保了每个游戏的独立性，同时提供了统一的生命周期管理，如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init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和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destroy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方法，有效避免了内存泄漏问题。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ftr" idx="2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 type="sldNum" idx="3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dt" idx="31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5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基于我们的实现，我们整理了一份详细的需求文档。这里展示了其中的部分内容。文档清晰地定义了每个模块的需求描述和验收标准，例如游戏大厅的响应式布局要求，以及小恐龙跑酷和五子棋的核心玩法规则。这份文档不仅是开发的依据，也是项目验收的标准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 type="ftr" idx="32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18" name="PlaceHolder 6"/>
          <p:cNvSpPr>
            <a:spLocks noGrp="1"/>
          </p:cNvSpPr>
          <p:nvPr>
            <p:ph type="sldNum" idx="33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3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这是我们项目的代码仓库结构和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Git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分支策略。文件结构清晰，每个游戏都是一个独立的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HTML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文件，便于维护和扩展。我们采用了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Git Flow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工作流，为每个功能模块创建独立的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feature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分支，如界面、不同同学的游戏开发等，最后合并到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develop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分支进行集成测试，确保了代码管理的规范和高效。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6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1.7.2013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39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我的汇报到此结束，感谢大家的聆听。我们的“经典游戏回廊”项目不仅是一次技术实践，也是一次愉快的团队协作。现在是问答环节，欢迎大家提问。我们的项目代码已经托管在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Noto Sans CJK SC"/>
              </a:rPr>
              <a:t>GitHub</a:t>
            </a:r>
            <a:r>
              <a:rPr lang="zh-CN" sz="1400" b="0" u="none" strike="noStrike">
                <a:solidFill>
                  <a:srgbClr val="000000"/>
                </a:solidFill>
                <a:uFillTx/>
                <a:latin typeface="Noto Sans CJK SC"/>
              </a:rPr>
              <a:t>上，在线演示链接也将在部署后补充。谢谢大家！</a:t>
            </a:r>
            <a:endParaRPr lang="en-US" sz="14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41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42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cs-CZ" sz="1200" b="0" u="none" strike="noStrik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cs-CZ" sz="1200" b="0" u="none" strike="noStrike">
                <a:solidFill>
                  <a:srgbClr val="000000"/>
                </a:solidFill>
                <a:uFillTx/>
                <a:latin typeface="Noto Sans CJK SC"/>
              </a:rPr>
              <a:t>‹#›</a:t>
            </a:r>
            <a:endParaRPr lang="en-US" sz="1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8.jpe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4.svg"/><Relationship Id="rId5" Type="http://schemas.openxmlformats.org/officeDocument/2006/relationships/image" Target="../media/image40.sv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jpe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8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8.jpe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8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.svg"/><Relationship Id="rId5" Type="http://schemas.openxmlformats.org/officeDocument/2006/relationships/image" Target="../media/image64.svg"/><Relationship Id="rId10" Type="http://schemas.openxmlformats.org/officeDocument/2006/relationships/image" Target="../media/image2.png"/><Relationship Id="rId4" Type="http://schemas.openxmlformats.org/officeDocument/2006/relationships/image" Target="../media/image63.png"/><Relationship Id="rId9" Type="http://schemas.openxmlformats.org/officeDocument/2006/relationships/image" Target="../media/image5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1" name="AutoShape 3"/>
          <p:cNvSpPr/>
          <p:nvPr/>
        </p:nvSpPr>
        <p:spPr>
          <a:xfrm>
            <a:off x="1015920" y="1905120"/>
            <a:ext cx="1015956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4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经典游戏回廊 </a:t>
            </a:r>
            <a:r>
              <a:rPr lang="en-US" sz="4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· </a:t>
            </a:r>
            <a:r>
              <a:rPr lang="zh-CN" sz="4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项目汇报</a:t>
            </a:r>
            <a:endParaRPr lang="en-US" sz="4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" name="AutoShape 4"/>
          <p:cNvSpPr/>
          <p:nvPr/>
        </p:nvSpPr>
        <p:spPr>
          <a:xfrm>
            <a:off x="1015920" y="3048120"/>
            <a:ext cx="10159560" cy="25200"/>
          </a:xfrm>
          <a:prstGeom prst="roundRect">
            <a:avLst>
              <a:gd name="adj" fmla="val 0"/>
            </a:avLst>
          </a:prstGeom>
          <a:solidFill>
            <a:srgbClr val="2BD1FC">
              <a:alpha val="6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12600" rIns="63360" bIns="126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3" name="AutoShape 5"/>
          <p:cNvSpPr/>
          <p:nvPr/>
        </p:nvSpPr>
        <p:spPr>
          <a:xfrm>
            <a:off x="1015920" y="3429000"/>
            <a:ext cx="1015956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七合一</a:t>
            </a:r>
            <a:r>
              <a:rPr lang="en-US" sz="20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HTML5</a:t>
            </a:r>
            <a:r>
              <a:rPr lang="zh-CN" sz="20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游戏平台的技术架构搭建与高效团队协作全记录</a:t>
            </a:r>
            <a:endParaRPr lang="en-US" sz="20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" name="AutoShape 6"/>
          <p:cNvSpPr/>
          <p:nvPr/>
        </p:nvSpPr>
        <p:spPr>
          <a:xfrm>
            <a:off x="1015920" y="4572000"/>
            <a:ext cx="3174480" cy="139680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5" name="Picture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206360" y="4762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AutoShape 8"/>
          <p:cNvSpPr/>
          <p:nvPr/>
        </p:nvSpPr>
        <p:spPr>
          <a:xfrm>
            <a:off x="1650960" y="4699080"/>
            <a:ext cx="241272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架构与界面核心</a:t>
            </a:r>
            <a:br>
              <a:rPr sz="1600"/>
            </a:br>
            <a:r>
              <a:rPr lang="zh-CN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李想负责全栈代码整合，李玥峰主导网页视觉与交互界面设计，构建统一平台入口。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7" name="Connector 9"/>
          <p:cNvCxnSpPr/>
          <p:nvPr/>
        </p:nvCxnSpPr>
        <p:spPr>
          <a:xfrm>
            <a:off x="4444920" y="4698720"/>
            <a:ext cx="360" cy="1143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18" name="AutoShape 10"/>
          <p:cNvSpPr/>
          <p:nvPr/>
        </p:nvSpPr>
        <p:spPr>
          <a:xfrm>
            <a:off x="4572000" y="4572000"/>
            <a:ext cx="3174480" cy="139680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9" name="Picture 11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762440" y="4762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AutoShape 12"/>
          <p:cNvSpPr/>
          <p:nvPr/>
        </p:nvSpPr>
        <p:spPr>
          <a:xfrm>
            <a:off x="5207040" y="4699080"/>
            <a:ext cx="241272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游戏内容研发</a:t>
            </a:r>
            <a:br>
              <a:rPr sz="1600"/>
            </a:br>
            <a:r>
              <a:rPr lang="zh-CN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李少华独立开发</a:t>
            </a:r>
            <a:r>
              <a:rPr lang="en-US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5</a:t>
            </a:r>
            <a:r>
              <a:rPr lang="zh-CN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款核心游戏，李振豪完成</a:t>
            </a:r>
            <a:r>
              <a:rPr lang="en-US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2</a:t>
            </a:r>
            <a:r>
              <a:rPr lang="zh-CN" sz="1300" b="0" u="none" strike="noStrike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款特色游戏模块，共同实现平台内容填充。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1" name="Connector 13"/>
          <p:cNvCxnSpPr/>
          <p:nvPr/>
        </p:nvCxnSpPr>
        <p:spPr>
          <a:xfrm>
            <a:off x="7937280" y="4698720"/>
            <a:ext cx="360" cy="1143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22" name="AutoShape 14"/>
          <p:cNvSpPr/>
          <p:nvPr/>
        </p:nvSpPr>
        <p:spPr>
          <a:xfrm>
            <a:off x="8064360" y="4572000"/>
            <a:ext cx="3174480" cy="139680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3" name="Picture 15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55160" y="47624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AutoShape 16"/>
          <p:cNvSpPr/>
          <p:nvPr/>
        </p:nvSpPr>
        <p:spPr>
          <a:xfrm>
            <a:off x="8699400" y="4699080"/>
            <a:ext cx="241272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600" b="1" u="none" strike="noStrike" dirty="0">
                <a:solidFill>
                  <a:srgbClr val="FFFFFF"/>
                </a:solidFill>
                <a:uFillTx/>
                <a:latin typeface="Noto Sans SC"/>
                <a:ea typeface="Noto Sans SC"/>
              </a:rPr>
              <a:t>汇报与成果展示</a:t>
            </a:r>
            <a:br>
              <a:rPr sz="1600" dirty="0"/>
            </a:br>
            <a:r>
              <a:rPr lang="zh-CN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贾耀翔，王一鑫</a:t>
            </a:r>
            <a:r>
              <a:rPr lang="zh-CN" altLang="en-US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，齐胜南</a:t>
            </a:r>
            <a:r>
              <a:rPr lang="zh-CN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统筹项目全流程</a:t>
            </a:r>
            <a:r>
              <a:rPr lang="en-US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PPT</a:t>
            </a:r>
            <a:r>
              <a:rPr lang="zh-CN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制作与视觉包装，于</a:t>
            </a:r>
            <a:r>
              <a:rPr lang="en-US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2026</a:t>
            </a:r>
            <a:r>
              <a:rPr lang="zh-CN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年</a:t>
            </a:r>
            <a:r>
              <a:rPr lang="en-US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6</a:t>
            </a:r>
            <a:r>
              <a:rPr lang="zh-CN" sz="1300" b="0" u="none" strike="noStrike" dirty="0">
                <a:solidFill>
                  <a:srgbClr val="E6E6E6">
                    <a:alpha val="80000"/>
                  </a:srgbClr>
                </a:solidFill>
                <a:uFillTx/>
                <a:latin typeface="Noto Sans SC"/>
                <a:ea typeface="Noto Sans SC"/>
              </a:rPr>
              <a:t>月完成最终成果汇报交付。</a:t>
            </a:r>
            <a:endParaRPr lang="en-US" sz="13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6" name="AutoShape 3"/>
          <p:cNvSpPr/>
          <p:nvPr/>
        </p:nvSpPr>
        <p:spPr>
          <a:xfrm>
            <a:off x="762120" y="507960"/>
            <a:ext cx="10667520" cy="571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项目概述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7" name="AutoShape 4"/>
          <p:cNvSpPr/>
          <p:nvPr/>
        </p:nvSpPr>
        <p:spPr>
          <a:xfrm>
            <a:off x="762120" y="1397160"/>
            <a:ext cx="10667520" cy="107928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8" name="AutoShape 5"/>
          <p:cNvSpPr/>
          <p:nvPr/>
        </p:nvSpPr>
        <p:spPr>
          <a:xfrm>
            <a:off x="1015920" y="1523880"/>
            <a:ext cx="1015956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经典游戏回廊（</a:t>
            </a:r>
            <a:r>
              <a:rPr lang="en-US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Classic Game Gallery</a:t>
            </a: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）</a:t>
            </a:r>
            <a:r>
              <a:rPr lang="en-US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—— 一款集合7</a:t>
            </a:r>
            <a:r>
              <a:rPr lang="zh-CN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款经典</a:t>
            </a:r>
            <a:r>
              <a:rPr lang="en-US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HTML5</a:t>
            </a:r>
            <a:r>
              <a:rPr lang="zh-CN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小游戏的网页平台，致力于重现童年游戏乐趣，融合现代前端技术打造流畅、绚丽的沉浸式怀旧体验。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9" name="AutoShape 6"/>
          <p:cNvSpPr/>
          <p:nvPr/>
        </p:nvSpPr>
        <p:spPr>
          <a:xfrm>
            <a:off x="762120" y="2921040"/>
            <a:ext cx="2476080" cy="17143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0" name="Picture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52560" y="3111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AutoShape 8"/>
          <p:cNvSpPr/>
          <p:nvPr/>
        </p:nvSpPr>
        <p:spPr>
          <a:xfrm>
            <a:off x="1397160" y="3073320"/>
            <a:ext cx="17143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一站式体验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2" name="Connector 9"/>
          <p:cNvCxnSpPr/>
          <p:nvPr/>
        </p:nvCxnSpPr>
        <p:spPr>
          <a:xfrm>
            <a:off x="952200" y="3619440"/>
            <a:ext cx="2095920" cy="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33" name="AutoShape 10"/>
          <p:cNvSpPr/>
          <p:nvPr/>
        </p:nvSpPr>
        <p:spPr>
          <a:xfrm>
            <a:off x="952560" y="3746520"/>
            <a:ext cx="209520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汇聚多款经典游戏，无需切换平台，在同一网页即可畅享多样的怀旧娱乐时光。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4" name="AutoShape 11"/>
          <p:cNvSpPr/>
          <p:nvPr/>
        </p:nvSpPr>
        <p:spPr>
          <a:xfrm>
            <a:off x="3492360" y="2921040"/>
            <a:ext cx="2476080" cy="17143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5" name="Picture 12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683160" y="3111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AutoShape 13"/>
          <p:cNvSpPr/>
          <p:nvPr/>
        </p:nvSpPr>
        <p:spPr>
          <a:xfrm>
            <a:off x="4127400" y="3073320"/>
            <a:ext cx="17143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全端适配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7" name="Connector 14"/>
          <p:cNvCxnSpPr/>
          <p:nvPr/>
        </p:nvCxnSpPr>
        <p:spPr>
          <a:xfrm>
            <a:off x="3682800" y="3619440"/>
            <a:ext cx="2095920" cy="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38" name="AutoShape 15"/>
          <p:cNvSpPr/>
          <p:nvPr/>
        </p:nvSpPr>
        <p:spPr>
          <a:xfrm>
            <a:off x="3683160" y="3746520"/>
            <a:ext cx="209520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采用响应式布局设计，完美适配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PC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端大屏与移动端小屏，随时随地想玩就玩。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9" name="AutoShape 16"/>
          <p:cNvSpPr/>
          <p:nvPr/>
        </p:nvSpPr>
        <p:spPr>
          <a:xfrm>
            <a:off x="6222960" y="2921040"/>
            <a:ext cx="2476080" cy="17143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40" name="Picture 1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413400" y="3111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AutoShape 18"/>
          <p:cNvSpPr/>
          <p:nvPr/>
        </p:nvSpPr>
        <p:spPr>
          <a:xfrm>
            <a:off x="6858000" y="3073320"/>
            <a:ext cx="17143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流光视觉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42" name="Connector 19"/>
          <p:cNvCxnSpPr/>
          <p:nvPr/>
        </p:nvCxnSpPr>
        <p:spPr>
          <a:xfrm>
            <a:off x="6413400" y="3619440"/>
            <a:ext cx="2095920" cy="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43" name="AutoShape 20"/>
          <p:cNvSpPr/>
          <p:nvPr/>
        </p:nvSpPr>
        <p:spPr>
          <a:xfrm>
            <a:off x="6413400" y="3746520"/>
            <a:ext cx="209520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运用七彩流光与霓虹渐变风格，结合现代化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UI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设计，为经典游戏注入全新视觉活力。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4" name="AutoShape 21"/>
          <p:cNvSpPr/>
          <p:nvPr/>
        </p:nvSpPr>
        <p:spPr>
          <a:xfrm>
            <a:off x="8953560" y="2921040"/>
            <a:ext cx="2476080" cy="17143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45" name="Picture 22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9144000" y="3111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AutoShape 23"/>
          <p:cNvSpPr/>
          <p:nvPr/>
        </p:nvSpPr>
        <p:spPr>
          <a:xfrm>
            <a:off x="9588600" y="3073320"/>
            <a:ext cx="17143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智能筛选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47" name="Connector 24"/>
          <p:cNvCxnSpPr/>
          <p:nvPr/>
        </p:nvCxnSpPr>
        <p:spPr>
          <a:xfrm>
            <a:off x="9143640" y="3619440"/>
            <a:ext cx="2095920" cy="36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round/>
          </a:ln>
        </p:spPr>
      </p:cxnSp>
      <p:sp>
        <p:nvSpPr>
          <p:cNvPr id="48" name="AutoShape 25"/>
          <p:cNvSpPr/>
          <p:nvPr/>
        </p:nvSpPr>
        <p:spPr>
          <a:xfrm>
            <a:off x="9144000" y="3746520"/>
            <a:ext cx="209520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内置智能搜索与分类筛选功能，帮助用户快速定位心仪游戏，提升操作便捷性。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49" name="AutoShape 26"/>
          <p:cNvSpPr/>
          <p:nvPr/>
        </p:nvSpPr>
        <p:spPr>
          <a:xfrm>
            <a:off x="762120" y="5079960"/>
            <a:ext cx="5270040" cy="1396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0" name="AutoShape 27"/>
          <p:cNvSpPr/>
          <p:nvPr/>
        </p:nvSpPr>
        <p:spPr>
          <a:xfrm>
            <a:off x="762120" y="5079960"/>
            <a:ext cx="50400" cy="1396800"/>
          </a:xfrm>
          <a:prstGeom prst="roundRect">
            <a:avLst>
              <a:gd name="adj" fmla="val 0"/>
            </a:avLst>
          </a:prstGeom>
          <a:solidFill>
            <a:srgbClr val="2BD1FC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200" tIns="63360" rIns="2520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1" name="AutoShape 28"/>
          <p:cNvSpPr/>
          <p:nvPr/>
        </p:nvSpPr>
        <p:spPr>
          <a:xfrm>
            <a:off x="952560" y="5181480"/>
            <a:ext cx="4825800" cy="3171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负责人：李少华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52" name="Connector 29"/>
          <p:cNvCxnSpPr/>
          <p:nvPr/>
        </p:nvCxnSpPr>
        <p:spPr>
          <a:xfrm>
            <a:off x="952200" y="5587920"/>
            <a:ext cx="48898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53" name="AutoShape 30"/>
          <p:cNvSpPr/>
          <p:nvPr/>
        </p:nvSpPr>
        <p:spPr>
          <a:xfrm>
            <a:off x="952560" y="5689440"/>
            <a:ext cx="4889160" cy="69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负责开发：小恐龙跑酷、打地鼠、飞机打怪兽、推箱子、贪吃蛇，涵盖跑酷、点击、射击、策略解谜等多种经典玩法</a:t>
            </a:r>
            <a:r>
              <a:rPr lang="zh-CN" altLang="en-US" sz="1300" b="0" u="none" strike="noStrike" dirty="0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，上传仓库。</a:t>
            </a:r>
            <a:endParaRPr lang="en-US" sz="13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54" name="AutoShape 31"/>
          <p:cNvSpPr/>
          <p:nvPr/>
        </p:nvSpPr>
        <p:spPr>
          <a:xfrm>
            <a:off x="6286680" y="5079960"/>
            <a:ext cx="5270040" cy="1396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5" name="AutoShape 32"/>
          <p:cNvSpPr/>
          <p:nvPr/>
        </p:nvSpPr>
        <p:spPr>
          <a:xfrm>
            <a:off x="6286680" y="5079960"/>
            <a:ext cx="50400" cy="1396800"/>
          </a:xfrm>
          <a:prstGeom prst="roundRect">
            <a:avLst>
              <a:gd name="adj" fmla="val 0"/>
            </a:avLst>
          </a:prstGeom>
          <a:solidFill>
            <a:srgbClr val="EC4899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200" tIns="63360" rIns="2520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" name="AutoShape 33"/>
          <p:cNvSpPr/>
          <p:nvPr/>
        </p:nvSpPr>
        <p:spPr>
          <a:xfrm>
            <a:off x="6477120" y="5181480"/>
            <a:ext cx="4825800" cy="3171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EC4899"/>
                </a:solidFill>
                <a:uFillTx/>
                <a:latin typeface="Noto Sans SC"/>
                <a:ea typeface="Noto Sans SC"/>
              </a:rPr>
              <a:t>负责人：李振豪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57" name="Connector 34"/>
          <p:cNvCxnSpPr/>
          <p:nvPr/>
        </p:nvCxnSpPr>
        <p:spPr>
          <a:xfrm>
            <a:off x="6476760" y="5587920"/>
            <a:ext cx="48898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58" name="AutoShape 35"/>
          <p:cNvSpPr/>
          <p:nvPr/>
        </p:nvSpPr>
        <p:spPr>
          <a:xfrm>
            <a:off x="6477120" y="5689440"/>
            <a:ext cx="4889160" cy="69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负责开发：俄罗斯方块、五子棋，聚焦于经典消除与双人对弈类游戏，注重游戏逻辑与交互体验的打磨。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0" name="AutoShape 3"/>
          <p:cNvSpPr/>
          <p:nvPr/>
        </p:nvSpPr>
        <p:spPr>
          <a:xfrm>
            <a:off x="762120" y="507960"/>
            <a:ext cx="1066752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需求分析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61" name="AutoShape 4"/>
          <p:cNvSpPr/>
          <p:nvPr/>
        </p:nvSpPr>
        <p:spPr>
          <a:xfrm>
            <a:off x="762120" y="1523880"/>
            <a:ext cx="5841720" cy="146016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2" name="AutoShape 5"/>
          <p:cNvSpPr/>
          <p:nvPr/>
        </p:nvSpPr>
        <p:spPr>
          <a:xfrm>
            <a:off x="762120" y="1523880"/>
            <a:ext cx="75960" cy="1460160"/>
          </a:xfrm>
          <a:prstGeom prst="roundRect">
            <a:avLst>
              <a:gd name="adj" fmla="val 0"/>
            </a:avLst>
          </a:prstGeom>
          <a:solidFill>
            <a:srgbClr val="2BD1FC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7800" tIns="63360" rIns="3780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3" name="AutoShape 6"/>
          <p:cNvSpPr/>
          <p:nvPr/>
        </p:nvSpPr>
        <p:spPr>
          <a:xfrm>
            <a:off x="1015920" y="1650960"/>
            <a:ext cx="5333760" cy="30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01 </a:t>
            </a: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游戏大厅核心交互</a:t>
            </a: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负责人：李玥峰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64" name="Connector 7"/>
          <p:cNvCxnSpPr/>
          <p:nvPr/>
        </p:nvCxnSpPr>
        <p:spPr>
          <a:xfrm>
            <a:off x="1015920" y="2095200"/>
            <a:ext cx="533412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65" name="AutoShape 8"/>
          <p:cNvSpPr/>
          <p:nvPr/>
        </p:nvSpPr>
        <p:spPr>
          <a:xfrm>
            <a:off x="1015920" y="2222640"/>
            <a:ext cx="533376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P0</a:t>
            </a: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级核心：实现</a:t>
            </a:r>
            <a:r>
              <a:rPr lang="en-US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7</a:t>
            </a: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款游戏卡片网格展示与点击跳转，保障入口体验流畅；</a:t>
            </a:r>
            <a:r>
              <a:rPr lang="en-US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P1</a:t>
            </a: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级优化：添加搜索框实时筛选功能，提升游戏查找效率。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66" name="AutoShape 9"/>
          <p:cNvSpPr/>
          <p:nvPr/>
        </p:nvSpPr>
        <p:spPr>
          <a:xfrm>
            <a:off x="762120" y="3301920"/>
            <a:ext cx="5841720" cy="146016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7" name="AutoShape 10"/>
          <p:cNvSpPr/>
          <p:nvPr/>
        </p:nvSpPr>
        <p:spPr>
          <a:xfrm>
            <a:off x="762120" y="3301920"/>
            <a:ext cx="75960" cy="1460160"/>
          </a:xfrm>
          <a:prstGeom prst="roundRect">
            <a:avLst>
              <a:gd name="adj" fmla="val 0"/>
            </a:avLst>
          </a:prstGeom>
          <a:solidFill>
            <a:srgbClr val="EC4899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7800" tIns="63360" rIns="3780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8" name="AutoShape 11"/>
          <p:cNvSpPr/>
          <p:nvPr/>
        </p:nvSpPr>
        <p:spPr>
          <a:xfrm>
            <a:off x="1015920" y="3429000"/>
            <a:ext cx="5333760" cy="30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uFillTx/>
                <a:latin typeface="Noto Sans SC"/>
                <a:ea typeface="Noto Sans SC"/>
              </a:rPr>
              <a:t>02 </a:t>
            </a:r>
            <a:r>
              <a:rPr lang="zh-CN" sz="1800" b="1" u="none" strike="noStrike">
                <a:solidFill>
                  <a:srgbClr val="EC4899"/>
                </a:solidFill>
                <a:uFillTx/>
                <a:latin typeface="Noto Sans SC"/>
                <a:ea typeface="Noto Sans SC"/>
              </a:rPr>
              <a:t>敏捷动作类游戏开发</a:t>
            </a: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负责人：李少华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69" name="Connector 12"/>
          <p:cNvCxnSpPr/>
          <p:nvPr/>
        </p:nvCxnSpPr>
        <p:spPr>
          <a:xfrm>
            <a:off x="1015920" y="3873240"/>
            <a:ext cx="533412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70" name="AutoShape 13"/>
          <p:cNvSpPr/>
          <p:nvPr/>
        </p:nvSpPr>
        <p:spPr>
          <a:xfrm>
            <a:off x="1015920" y="4000680"/>
            <a:ext cx="533376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聚焦小恐龙跑酷与飞机打怪兽，实现键盘</a:t>
            </a:r>
            <a:r>
              <a:rPr lang="en-US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/</a:t>
            </a: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鼠标精准操控、动态障碍物生成逻辑，确保游戏的即时反馈与流畅的操作手感。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71" name="AutoShape 14"/>
          <p:cNvSpPr/>
          <p:nvPr/>
        </p:nvSpPr>
        <p:spPr>
          <a:xfrm>
            <a:off x="762120" y="5079960"/>
            <a:ext cx="5841720" cy="146016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2" name="AutoShape 15"/>
          <p:cNvSpPr/>
          <p:nvPr/>
        </p:nvSpPr>
        <p:spPr>
          <a:xfrm>
            <a:off x="762120" y="5079960"/>
            <a:ext cx="75960" cy="146016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7800" tIns="63360" rIns="3780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73" name="AutoShape 16"/>
          <p:cNvSpPr/>
          <p:nvPr/>
        </p:nvSpPr>
        <p:spPr>
          <a:xfrm>
            <a:off x="1015920" y="5207040"/>
            <a:ext cx="5333760" cy="30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855F7"/>
                </a:solidFill>
                <a:uFillTx/>
                <a:latin typeface="Noto Sans SC"/>
                <a:ea typeface="Noto Sans SC"/>
              </a:rPr>
              <a:t>03 </a:t>
            </a:r>
            <a:r>
              <a:rPr lang="zh-CN" sz="1800" b="1" u="none" strike="noStrike">
                <a:solidFill>
                  <a:srgbClr val="A855F7"/>
                </a:solidFill>
                <a:uFillTx/>
                <a:latin typeface="Noto Sans SC"/>
                <a:ea typeface="Noto Sans SC"/>
              </a:rPr>
              <a:t>休闲益智类游戏矩阵</a:t>
            </a: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负责人：李少华 </a:t>
            </a: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/ </a:t>
            </a:r>
            <a:r>
              <a:rPr lang="zh-CN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李振豪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74" name="Connector 17"/>
          <p:cNvCxnSpPr/>
          <p:nvPr/>
        </p:nvCxnSpPr>
        <p:spPr>
          <a:xfrm>
            <a:off x="1015920" y="5651280"/>
            <a:ext cx="533412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75" name="AutoShape 18"/>
          <p:cNvSpPr/>
          <p:nvPr/>
        </p:nvSpPr>
        <p:spPr>
          <a:xfrm>
            <a:off x="1015920" y="5778360"/>
            <a:ext cx="533376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覆盖打地鼠、推箱子、贪吃蛇、俄罗斯方块及五子棋，完成多关卡设计、规则逻辑封装与双人对弈功能的完整实现。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76" name="Connector 19"/>
          <p:cNvCxnSpPr/>
          <p:nvPr/>
        </p:nvCxnSpPr>
        <p:spPr>
          <a:xfrm>
            <a:off x="6984720" y="1523880"/>
            <a:ext cx="360" cy="50169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77" name="AutoShape 20"/>
          <p:cNvSpPr/>
          <p:nvPr/>
        </p:nvSpPr>
        <p:spPr>
          <a:xfrm>
            <a:off x="7238880" y="1523880"/>
            <a:ext cx="2222280" cy="228564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78" name="Picture 21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429680" y="17146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AutoShape 22"/>
          <p:cNvSpPr/>
          <p:nvPr/>
        </p:nvSpPr>
        <p:spPr>
          <a:xfrm>
            <a:off x="7873920" y="1676520"/>
            <a:ext cx="1460160" cy="406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极致性能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80" name="Connector 23"/>
          <p:cNvCxnSpPr/>
          <p:nvPr/>
        </p:nvCxnSpPr>
        <p:spPr>
          <a:xfrm>
            <a:off x="7429320" y="2285640"/>
            <a:ext cx="1841760" cy="720"/>
          </a:xfrm>
          <a:prstGeom prst="straightConnector1">
            <a:avLst/>
          </a:prstGeom>
          <a:ln w="12700">
            <a:solidFill>
              <a:srgbClr val="2BD1FC">
                <a:alpha val="30000"/>
              </a:srgbClr>
            </a:solidFill>
            <a:round/>
          </a:ln>
        </p:spPr>
      </p:cxnSp>
      <p:sp>
        <p:nvSpPr>
          <p:cNvPr id="81" name="AutoShape 24"/>
          <p:cNvSpPr/>
          <p:nvPr/>
        </p:nvSpPr>
        <p:spPr>
          <a:xfrm>
            <a:off x="7429680" y="2540160"/>
            <a:ext cx="1841040" cy="10792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保障游戏运行帧率≥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60fps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，优化资源加载策略，确保页面整体加载时间严格控制在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2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秒以内。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2" name="AutoShape 25"/>
          <p:cNvSpPr/>
          <p:nvPr/>
        </p:nvSpPr>
        <p:spPr>
          <a:xfrm>
            <a:off x="9588600" y="1523880"/>
            <a:ext cx="2222280" cy="228564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83" name="Picture 26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779040" y="17146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AutoShape 27"/>
          <p:cNvSpPr/>
          <p:nvPr/>
        </p:nvSpPr>
        <p:spPr>
          <a:xfrm>
            <a:off x="10223640" y="1676520"/>
            <a:ext cx="1460160" cy="406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全端兼容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85" name="Connector 28"/>
          <p:cNvCxnSpPr/>
          <p:nvPr/>
        </p:nvCxnSpPr>
        <p:spPr>
          <a:xfrm>
            <a:off x="9778680" y="2285640"/>
            <a:ext cx="1842120" cy="720"/>
          </a:xfrm>
          <a:prstGeom prst="straightConnector1">
            <a:avLst/>
          </a:prstGeom>
          <a:ln w="12700">
            <a:solidFill>
              <a:srgbClr val="EC4899">
                <a:alpha val="30000"/>
              </a:srgbClr>
            </a:solidFill>
            <a:round/>
          </a:ln>
        </p:spPr>
      </p:cxnSp>
      <p:sp>
        <p:nvSpPr>
          <p:cNvPr id="86" name="AutoShape 29"/>
          <p:cNvSpPr/>
          <p:nvPr/>
        </p:nvSpPr>
        <p:spPr>
          <a:xfrm>
            <a:off x="9779040" y="2540160"/>
            <a:ext cx="1841040" cy="10792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适配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Chrome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、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Safari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、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Edge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等主流桌面浏览器，同时完美兼容移动端浏览器的触控交互逻辑。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87" name="AutoShape 30"/>
          <p:cNvSpPr/>
          <p:nvPr/>
        </p:nvSpPr>
        <p:spPr>
          <a:xfrm>
            <a:off x="7238880" y="4064040"/>
            <a:ext cx="2222280" cy="228564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88" name="Picture 31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429680" y="4254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AutoShape 32"/>
          <p:cNvSpPr/>
          <p:nvPr/>
        </p:nvSpPr>
        <p:spPr>
          <a:xfrm>
            <a:off x="7873920" y="4216320"/>
            <a:ext cx="1460160" cy="406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架构可维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90" name="Connector 33"/>
          <p:cNvCxnSpPr/>
          <p:nvPr/>
        </p:nvCxnSpPr>
        <p:spPr>
          <a:xfrm>
            <a:off x="7429320" y="4825800"/>
            <a:ext cx="1841760" cy="360"/>
          </a:xfrm>
          <a:prstGeom prst="straightConnector1">
            <a:avLst/>
          </a:prstGeom>
          <a:ln w="12700">
            <a:solidFill>
              <a:srgbClr val="A855F7">
                <a:alpha val="30000"/>
              </a:srgbClr>
            </a:solidFill>
            <a:round/>
          </a:ln>
        </p:spPr>
      </p:cxnSp>
      <p:sp>
        <p:nvSpPr>
          <p:cNvPr id="91" name="AutoShape 34"/>
          <p:cNvSpPr/>
          <p:nvPr/>
        </p:nvSpPr>
        <p:spPr>
          <a:xfrm>
            <a:off x="7429680" y="5079960"/>
            <a:ext cx="1841040" cy="10792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采用模块化代码结构，将各游戏逻辑独立封装，降低耦合度，便于后续功能扩展与问题排查维护。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2" name="AutoShape 35"/>
          <p:cNvSpPr/>
          <p:nvPr/>
        </p:nvSpPr>
        <p:spPr>
          <a:xfrm>
            <a:off x="9588600" y="4064040"/>
            <a:ext cx="2222280" cy="2285640"/>
          </a:xfrm>
          <a:prstGeom prst="roundRect">
            <a:avLst>
              <a:gd name="adj" fmla="val 0"/>
            </a:avLst>
          </a:prstGeom>
          <a:solidFill>
            <a:srgbClr val="FACC15">
              <a:alpha val="10000"/>
            </a:srgbClr>
          </a:solidFill>
          <a:ln w="12700">
            <a:solidFill>
              <a:srgbClr val="FACC15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93" name="Picture 36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9779040" y="4254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AutoShape 37"/>
          <p:cNvSpPr/>
          <p:nvPr/>
        </p:nvSpPr>
        <p:spPr>
          <a:xfrm>
            <a:off x="10223640" y="4216320"/>
            <a:ext cx="1460160" cy="406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沉浸体验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95" name="Connector 38"/>
          <p:cNvCxnSpPr/>
          <p:nvPr/>
        </p:nvCxnSpPr>
        <p:spPr>
          <a:xfrm>
            <a:off x="9778680" y="4825800"/>
            <a:ext cx="1842120" cy="360"/>
          </a:xfrm>
          <a:prstGeom prst="straightConnector1">
            <a:avLst/>
          </a:prstGeom>
          <a:ln w="12700">
            <a:solidFill>
              <a:srgbClr val="FACC15">
                <a:alpha val="30000"/>
              </a:srgbClr>
            </a:solidFill>
            <a:round/>
          </a:ln>
        </p:spPr>
      </p:cxnSp>
      <p:sp>
        <p:nvSpPr>
          <p:cNvPr id="96" name="AutoShape 39"/>
          <p:cNvSpPr/>
          <p:nvPr/>
        </p:nvSpPr>
        <p:spPr>
          <a:xfrm>
            <a:off x="9779040" y="5079960"/>
            <a:ext cx="1841040" cy="10792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统一视觉风格与交互规范，保证操作反馈即时响应，打造流畅、连贯且符合直觉的用户游戏体验。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98" name="AutoShape 3"/>
          <p:cNvSpPr/>
          <p:nvPr/>
        </p:nvSpPr>
        <p:spPr>
          <a:xfrm>
            <a:off x="762120" y="507960"/>
            <a:ext cx="10667520" cy="571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技术栈选型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99" name="AutoShape 4"/>
          <p:cNvSpPr/>
          <p:nvPr/>
        </p:nvSpPr>
        <p:spPr>
          <a:xfrm>
            <a:off x="762120" y="1778040"/>
            <a:ext cx="10857960" cy="196812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00" name="Picture 5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15920" y="196848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AutoShape 6"/>
          <p:cNvSpPr/>
          <p:nvPr/>
        </p:nvSpPr>
        <p:spPr>
          <a:xfrm>
            <a:off x="1650960" y="1930320"/>
            <a:ext cx="4063680" cy="4442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界面层：视觉与交互基座</a:t>
            </a:r>
            <a:endParaRPr lang="en-US" sz="20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02" name="Connector 7"/>
          <p:cNvCxnSpPr>
            <a:cxnSpLocks/>
          </p:cNvCxnSpPr>
          <p:nvPr/>
        </p:nvCxnSpPr>
        <p:spPr>
          <a:xfrm>
            <a:off x="1015920" y="2539800"/>
            <a:ext cx="10413720" cy="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103" name="AutoShape 8"/>
          <p:cNvSpPr/>
          <p:nvPr/>
        </p:nvSpPr>
        <p:spPr>
          <a:xfrm>
            <a:off x="1015920" y="2666880"/>
            <a:ext cx="10509202" cy="886392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基于 </a:t>
            </a:r>
            <a:r>
              <a:rPr lang="en-US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HTML5 </a:t>
            </a:r>
            <a:r>
              <a:rPr lang="zh-CN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构建语义化页面结构，结合 </a:t>
            </a:r>
            <a:r>
              <a:rPr lang="en-US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CSS3 </a:t>
            </a:r>
            <a:r>
              <a:rPr lang="zh-CN" altLang="en-US" sz="1400" dirty="0">
                <a:solidFill>
                  <a:srgbClr val="FFFFFF">
                    <a:alpha val="90000"/>
                  </a:srgbClr>
                </a:solidFill>
                <a:latin typeface="Noto Sans SC"/>
                <a:ea typeface="Noto Sans SC"/>
              </a:rPr>
              <a:t>以及</a:t>
            </a:r>
            <a:r>
              <a:rPr lang="en-US" altLang="zh-CN" sz="1400" dirty="0">
                <a:solidFill>
                  <a:srgbClr val="FFFFFF">
                    <a:alpha val="90000"/>
                  </a:srgbClr>
                </a:solidFill>
                <a:latin typeface="Noto Sans SC"/>
                <a:ea typeface="Noto Sans SC"/>
              </a:rPr>
              <a:t>JavaScript </a:t>
            </a:r>
            <a:r>
              <a:rPr lang="zh-CN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实现渐变背景、毛玻璃质感与全端响应式布局，打造沉浸式的游戏视觉容器，适配多尺寸屏幕设备。</a:t>
            </a:r>
            <a:endParaRPr lang="en-US" sz="14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14" name="AutoShape 19"/>
          <p:cNvSpPr/>
          <p:nvPr/>
        </p:nvSpPr>
        <p:spPr>
          <a:xfrm>
            <a:off x="762120" y="4191120"/>
            <a:ext cx="10857960" cy="196812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15" name="Picture 20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15920" y="443196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AutoShape 21"/>
          <p:cNvSpPr/>
          <p:nvPr/>
        </p:nvSpPr>
        <p:spPr>
          <a:xfrm>
            <a:off x="1650960" y="4388445"/>
            <a:ext cx="4063680" cy="4442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2000" b="1" u="none" strike="noStrike" dirty="0">
                <a:solidFill>
                  <a:srgbClr val="2BD1FC"/>
                </a:solidFill>
                <a:uFillTx/>
                <a:latin typeface="Noto Sans SC"/>
                <a:ea typeface="Noto Sans SC"/>
              </a:rPr>
              <a:t>工具链：工程化与交互控制</a:t>
            </a:r>
            <a:endParaRPr lang="en-US" sz="20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17" name="Connector 22"/>
          <p:cNvCxnSpPr>
            <a:cxnSpLocks/>
          </p:cNvCxnSpPr>
          <p:nvPr/>
        </p:nvCxnSpPr>
        <p:spPr>
          <a:xfrm flipV="1">
            <a:off x="1015920" y="4953240"/>
            <a:ext cx="10350720" cy="12672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118" name="AutoShape 23"/>
          <p:cNvSpPr/>
          <p:nvPr/>
        </p:nvSpPr>
        <p:spPr>
          <a:xfrm>
            <a:off x="1015920" y="5079960"/>
            <a:ext cx="10350000" cy="952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通过 </a:t>
            </a:r>
            <a:r>
              <a:rPr lang="en-US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Git </a:t>
            </a:r>
            <a:r>
              <a:rPr lang="zh-CN" sz="1400" b="0" u="none" strike="noStrike" dirty="0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进行版本管理与协作开发，封装统一的事件监听模块，完美兼容键盘、鼠标及移动端触摸交互，配合模块化开发规范提升维护性。</a:t>
            </a:r>
            <a:endParaRPr lang="en-US" sz="14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20" name="AutoShape 3"/>
          <p:cNvSpPr/>
          <p:nvPr/>
        </p:nvSpPr>
        <p:spPr>
          <a:xfrm>
            <a:off x="762120" y="507960"/>
            <a:ext cx="1066752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团队分工明细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1" name="AutoShape 4"/>
          <p:cNvSpPr/>
          <p:nvPr/>
        </p:nvSpPr>
        <p:spPr>
          <a:xfrm>
            <a:off x="762120" y="1523880"/>
            <a:ext cx="10667520" cy="1142640"/>
          </a:xfrm>
          <a:prstGeom prst="roundRect">
            <a:avLst>
              <a:gd name="adj" fmla="val 0"/>
            </a:avLst>
          </a:prstGeom>
          <a:solidFill>
            <a:srgbClr val="2BD1FC">
              <a:alpha val="15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22" name="Picture 5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15920" y="1841400"/>
            <a:ext cx="507600" cy="50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AutoShape 6"/>
          <p:cNvSpPr/>
          <p:nvPr/>
        </p:nvSpPr>
        <p:spPr>
          <a:xfrm>
            <a:off x="2031840" y="1650960"/>
            <a:ext cx="8889480" cy="8884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800" b="1" u="none" strike="noStrike" dirty="0">
                <a:solidFill>
                  <a:srgbClr val="2BD1FC"/>
                </a:solidFill>
                <a:uFillTx/>
                <a:latin typeface="Noto Sans SC"/>
                <a:ea typeface="Noto Sans SC"/>
              </a:rPr>
              <a:t>李想 </a:t>
            </a:r>
            <a:r>
              <a:rPr lang="en-US" sz="1800" b="1" u="none" strike="noStrike" dirty="0">
                <a:solidFill>
                  <a:srgbClr val="2BD1FC"/>
                </a:solidFill>
                <a:uFillTx/>
                <a:latin typeface="Noto Sans SC"/>
                <a:ea typeface="Noto Sans SC"/>
              </a:rPr>
              <a:t>· </a:t>
            </a:r>
            <a:r>
              <a:rPr lang="zh-CN" sz="1800" b="1" u="none" strike="noStrike" dirty="0">
                <a:solidFill>
                  <a:srgbClr val="2BD1FC"/>
                </a:solidFill>
                <a:uFillTx/>
                <a:latin typeface="Noto Sans SC"/>
                <a:ea typeface="Noto Sans SC"/>
              </a:rPr>
              <a:t>项目统筹与整合</a:t>
            </a:r>
            <a:endParaRPr lang="en-US" sz="18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负责统一管理、各模块代码接口对接与最终集成，把控项目整体进度与技术规范，确保各开发环节高效协同。</a:t>
            </a:r>
            <a:endParaRPr lang="en-US" sz="14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4" name="AutoShape 7"/>
          <p:cNvSpPr/>
          <p:nvPr/>
        </p:nvSpPr>
        <p:spPr>
          <a:xfrm>
            <a:off x="762120" y="3048120"/>
            <a:ext cx="3428640" cy="203148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25" name="Picture 8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52560" y="323856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AutoShape 9"/>
          <p:cNvSpPr/>
          <p:nvPr/>
        </p:nvSpPr>
        <p:spPr>
          <a:xfrm>
            <a:off x="1523880" y="3238560"/>
            <a:ext cx="253980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李玥峰 </a:t>
            </a:r>
            <a:r>
              <a:rPr lang="en-US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· </a:t>
            </a: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前端界面开发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27" name="Connector 10"/>
          <p:cNvCxnSpPr/>
          <p:nvPr/>
        </p:nvCxnSpPr>
        <p:spPr>
          <a:xfrm>
            <a:off x="952200" y="3809880"/>
            <a:ext cx="30484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128" name="AutoShape 11"/>
          <p:cNvSpPr/>
          <p:nvPr/>
        </p:nvSpPr>
        <p:spPr>
          <a:xfrm>
            <a:off x="952560" y="3936960"/>
            <a:ext cx="304776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负责游戏回廊展示、响应式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CSS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布局、全局搜索功能及卡片交互效果实现，打造统一且美观的用户浏览体验。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29" name="AutoShape 12"/>
          <p:cNvSpPr/>
          <p:nvPr/>
        </p:nvSpPr>
        <p:spPr>
          <a:xfrm>
            <a:off x="4381560" y="3048120"/>
            <a:ext cx="3428640" cy="203148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30" name="Picture 13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572000" y="323856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AutoShape 14"/>
          <p:cNvSpPr/>
          <p:nvPr/>
        </p:nvSpPr>
        <p:spPr>
          <a:xfrm>
            <a:off x="5143680" y="3238560"/>
            <a:ext cx="253980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李少华 </a:t>
            </a:r>
            <a:r>
              <a:rPr lang="en-US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· </a:t>
            </a: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主力游戏开发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32" name="Connector 15"/>
          <p:cNvCxnSpPr/>
          <p:nvPr/>
        </p:nvCxnSpPr>
        <p:spPr>
          <a:xfrm>
            <a:off x="4571640" y="3809880"/>
            <a:ext cx="30484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133" name="AutoShape 16"/>
          <p:cNvSpPr/>
          <p:nvPr/>
        </p:nvSpPr>
        <p:spPr>
          <a:xfrm>
            <a:off x="4572000" y="3936960"/>
            <a:ext cx="304776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独立完成</a:t>
            </a:r>
            <a:r>
              <a:rPr lang="en-US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5</a:t>
            </a: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款核心游戏开发：小恐龙快跑、打地鼠、飞机大战、推箱子、贪吃蛇，</a:t>
            </a:r>
            <a:r>
              <a:rPr lang="zh-CN" altLang="en-US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并上传仓库</a:t>
            </a: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是项目中游戏内容的主要产出者。</a:t>
            </a:r>
            <a:endParaRPr lang="en-US" sz="13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4" name="AutoShape 17"/>
          <p:cNvSpPr/>
          <p:nvPr/>
        </p:nvSpPr>
        <p:spPr>
          <a:xfrm>
            <a:off x="8001000" y="3048120"/>
            <a:ext cx="3428640" cy="203148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35" name="Picture 18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191440" y="323856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AutoShape 19"/>
          <p:cNvSpPr/>
          <p:nvPr/>
        </p:nvSpPr>
        <p:spPr>
          <a:xfrm>
            <a:off x="8763120" y="3238560"/>
            <a:ext cx="253980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李振豪 </a:t>
            </a:r>
            <a:r>
              <a:rPr lang="en-US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· </a:t>
            </a: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游戏开发支持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37" name="Connector 20"/>
          <p:cNvCxnSpPr/>
          <p:nvPr/>
        </p:nvCxnSpPr>
        <p:spPr>
          <a:xfrm>
            <a:off x="8191440" y="3809880"/>
            <a:ext cx="304812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138" name="AutoShape 21"/>
          <p:cNvSpPr/>
          <p:nvPr/>
        </p:nvSpPr>
        <p:spPr>
          <a:xfrm>
            <a:off x="8191440" y="3936960"/>
            <a:ext cx="304776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完成经典策略类游戏开发：俄罗斯方块与五子棋，丰富了项目的游戏品类，与主力开发形成内容互补。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39" name="AutoShape 22"/>
          <p:cNvSpPr/>
          <p:nvPr/>
        </p:nvSpPr>
        <p:spPr>
          <a:xfrm>
            <a:off x="762120" y="5397480"/>
            <a:ext cx="5206680" cy="1079280"/>
          </a:xfrm>
          <a:prstGeom prst="roundRect">
            <a:avLst>
              <a:gd name="adj" fmla="val 0"/>
            </a:avLst>
          </a:prstGeom>
          <a:solidFill>
            <a:srgbClr val="2BD1FC">
              <a:alpha val="8000"/>
            </a:srgbClr>
          </a:solidFill>
          <a:ln w="12700">
            <a:solidFill>
              <a:srgbClr val="2BD1FC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40" name="Picture 23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952560" y="55627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AutoShape 24"/>
          <p:cNvSpPr/>
          <p:nvPr/>
        </p:nvSpPr>
        <p:spPr>
          <a:xfrm>
            <a:off x="1523880" y="5524560"/>
            <a:ext cx="419076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游戏开发工作量占比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李少华完成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5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款游戏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(71%)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，李振豪完成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2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款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(29%)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，是本次项目工作量最集中的核心环节。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2" name="AutoShape 25"/>
          <p:cNvSpPr/>
          <p:nvPr/>
        </p:nvSpPr>
        <p:spPr>
          <a:xfrm>
            <a:off x="6222960" y="5397480"/>
            <a:ext cx="5206680" cy="1079280"/>
          </a:xfrm>
          <a:prstGeom prst="roundRect">
            <a:avLst>
              <a:gd name="adj" fmla="val 0"/>
            </a:avLst>
          </a:prstGeom>
          <a:solidFill>
            <a:srgbClr val="2BD1FC">
              <a:alpha val="8000"/>
            </a:srgbClr>
          </a:solidFill>
          <a:ln w="12700">
            <a:solidFill>
              <a:srgbClr val="2BD1FC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43" name="Picture 26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6413400" y="55627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AutoShape 27"/>
          <p:cNvSpPr/>
          <p:nvPr/>
        </p:nvSpPr>
        <p:spPr>
          <a:xfrm>
            <a:off x="6985080" y="5524560"/>
            <a:ext cx="419076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FFFFFF"/>
                </a:solidFill>
                <a:uFillTx/>
                <a:latin typeface="Noto Sans SC"/>
                <a:ea typeface="Noto Sans SC"/>
              </a:rPr>
              <a:t>成果沉淀与视觉呈现</a:t>
            </a:r>
            <a:endParaRPr lang="en-US" sz="14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贾耀翔，王一鑫</a:t>
            </a:r>
            <a:r>
              <a:rPr lang="zh-CN" altLang="en-US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，齐胜南</a:t>
            </a: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</a:t>
            </a:r>
            <a:r>
              <a:rPr lang="en-US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PPT</a:t>
            </a:r>
            <a:r>
              <a:rPr lang="zh-CN" sz="13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制作与项目文档整理，将团队开发成果系统化、可视化，确保项目经验可留存、可展示。</a:t>
            </a:r>
            <a:endParaRPr lang="en-US" sz="13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46" name="AutoShape 3"/>
          <p:cNvSpPr/>
          <p:nvPr/>
        </p:nvSpPr>
        <p:spPr>
          <a:xfrm>
            <a:off x="762120" y="507960"/>
            <a:ext cx="1066752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关键代码展示（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1/4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）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- 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游戏回廊界面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47" name="AutoShape 4"/>
          <p:cNvSpPr/>
          <p:nvPr/>
        </p:nvSpPr>
        <p:spPr>
          <a:xfrm>
            <a:off x="762120" y="1397160"/>
            <a:ext cx="10667520" cy="63468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48" name="Picture 5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15920" y="15238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AutoShape 6"/>
          <p:cNvSpPr/>
          <p:nvPr/>
        </p:nvSpPr>
        <p:spPr>
          <a:xfrm>
            <a:off x="1650960" y="1460520"/>
            <a:ext cx="952452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核心贡献者：李玥峰   </a:t>
            </a:r>
            <a:r>
              <a:rPr lang="en-US" sz="16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|   </a:t>
            </a:r>
            <a:r>
              <a:rPr lang="zh-CN" sz="16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负责模块：网页端游戏卡片动态渲染与实时搜索筛选功能实现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0" name="AutoShape 7"/>
          <p:cNvSpPr/>
          <p:nvPr/>
        </p:nvSpPr>
        <p:spPr>
          <a:xfrm>
            <a:off x="762120" y="2540160"/>
            <a:ext cx="5270040" cy="27936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51" name="AutoShape 8"/>
          <p:cNvSpPr/>
          <p:nvPr/>
        </p:nvSpPr>
        <p:spPr>
          <a:xfrm>
            <a:off x="762120" y="2540160"/>
            <a:ext cx="5270040" cy="507600"/>
          </a:xfrm>
          <a:prstGeom prst="roundRect">
            <a:avLst>
              <a:gd name="adj" fmla="val 0"/>
            </a:avLst>
          </a:prstGeom>
          <a:solidFill>
            <a:srgbClr val="2BD1FC">
              <a:alpha val="1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52" name="Picture 9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52560" y="2641680"/>
            <a:ext cx="279000" cy="27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AutoShape 10"/>
          <p:cNvSpPr/>
          <p:nvPr/>
        </p:nvSpPr>
        <p:spPr>
          <a:xfrm>
            <a:off x="1397160" y="2603520"/>
            <a:ext cx="444456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01. HTML </a:t>
            </a: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结构：语义化卡片网格布局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4" name="AutoShape 11"/>
          <p:cNvSpPr/>
          <p:nvPr/>
        </p:nvSpPr>
        <p:spPr>
          <a:xfrm>
            <a:off x="952560" y="3301920"/>
            <a:ext cx="4889160" cy="1841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采用语义化的 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`div` 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结构构建游戏卡片容器，通过自定义 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`data-*` 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属性存储游戏 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URL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、名称及描述等元数据。为每张卡片封装独立的内容区块，包含游戏标题、简介与启动按钮，实现结构与内容的清晰分离，为后续的动态渲染和交互提供稳固基础。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5" name="AutoShape 12"/>
          <p:cNvSpPr/>
          <p:nvPr/>
        </p:nvSpPr>
        <p:spPr>
          <a:xfrm>
            <a:off x="6286680" y="2540160"/>
            <a:ext cx="5270040" cy="27936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56" name="AutoShape 13"/>
          <p:cNvSpPr/>
          <p:nvPr/>
        </p:nvSpPr>
        <p:spPr>
          <a:xfrm>
            <a:off x="6286680" y="2540160"/>
            <a:ext cx="5270040" cy="507600"/>
          </a:xfrm>
          <a:prstGeom prst="roundRect">
            <a:avLst>
              <a:gd name="adj" fmla="val 0"/>
            </a:avLst>
          </a:prstGeom>
          <a:solidFill>
            <a:srgbClr val="2BD1FC">
              <a:alpha val="1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57" name="Picture 14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477120" y="2641680"/>
            <a:ext cx="279000" cy="27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AutoShape 15"/>
          <p:cNvSpPr/>
          <p:nvPr/>
        </p:nvSpPr>
        <p:spPr>
          <a:xfrm>
            <a:off x="6921360" y="2603520"/>
            <a:ext cx="444456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02. JS </a:t>
            </a: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核心：实时关键词模糊匹配筛选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59" name="AutoShape 16"/>
          <p:cNvSpPr/>
          <p:nvPr/>
        </p:nvSpPr>
        <p:spPr>
          <a:xfrm>
            <a:off x="6477120" y="3301920"/>
            <a:ext cx="4889160" cy="1841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定义 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`filterGamesByKeyword` 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函数，将用户输入转为小写并去除首尾空格，遍历所有游戏卡片，检查卡片名称和描述的 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`data` 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属性是否包含关键词。根据匹配结果动态切换卡片的显示</a:t>
            </a:r>
            <a:r>
              <a:rPr lang="en-US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/</a:t>
            </a:r>
            <a:r>
              <a:rPr lang="zh-CN" sz="13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隐藏状态，并实时更新搜索结果统计信息，为用户提供即时的反馈体验。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0" name="AutoShape 17"/>
          <p:cNvSpPr/>
          <p:nvPr/>
        </p:nvSpPr>
        <p:spPr>
          <a:xfrm>
            <a:off x="762120" y="5651640"/>
            <a:ext cx="10667520" cy="88848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BD1FC">
                  <a:alpha val="10000"/>
                </a:srgbClr>
              </a:gs>
              <a:gs pos="100000">
                <a:srgbClr val="A855F7">
                  <a:alpha val="10000"/>
                </a:srgbClr>
              </a:gs>
            </a:gsLst>
            <a:lin ang="0"/>
          </a:gradFill>
          <a:ln w="12700">
            <a:solidFill>
              <a:srgbClr val="FFFFFF">
                <a:alpha val="1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61" name="Picture 18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15920" y="588024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AutoShape 19"/>
          <p:cNvSpPr/>
          <p:nvPr/>
        </p:nvSpPr>
        <p:spPr>
          <a:xfrm>
            <a:off x="1778040" y="5778360"/>
            <a:ext cx="939780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功能亮点：通过原生 </a:t>
            </a:r>
            <a:r>
              <a:rPr lang="en-US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JavaScript </a:t>
            </a:r>
            <a:r>
              <a:rPr lang="zh-CN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实现零依赖的前端搜索筛选，避免了后端请求的延迟，同时利用数据属性缓存信息，提升了 </a:t>
            </a:r>
            <a:r>
              <a:rPr lang="en-US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DOM </a:t>
            </a:r>
            <a:r>
              <a:rPr lang="zh-CN" sz="14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操作的效率，让用户能快速定位心仪的游戏。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762120" y="507960"/>
            <a:ext cx="1066752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关键代码展示（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2/4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）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- 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小恐龙跑酷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762120" y="1778040"/>
            <a:ext cx="5841720" cy="3682800"/>
          </a:xfrm>
          <a:prstGeom prst="roundRect">
            <a:avLst>
              <a:gd name="adj" fmla="val 0"/>
            </a:avLst>
          </a:prstGeom>
          <a:solidFill>
            <a:srgbClr val="141928">
              <a:alpha val="80000"/>
            </a:srgbClr>
          </a:solidFill>
          <a:ln w="12700">
            <a:solidFill>
              <a:srgbClr val="2BD1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6" name="AutoShape 5"/>
          <p:cNvSpPr/>
          <p:nvPr/>
        </p:nvSpPr>
        <p:spPr>
          <a:xfrm>
            <a:off x="762120" y="1778040"/>
            <a:ext cx="5841720" cy="456840"/>
          </a:xfrm>
          <a:prstGeom prst="roundRect">
            <a:avLst>
              <a:gd name="adj" fmla="val 0"/>
            </a:avLst>
          </a:prstGeom>
          <a:solidFill>
            <a:srgbClr val="2BD1FC">
              <a:alpha val="1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7" name="AutoShape 6"/>
          <p:cNvSpPr/>
          <p:nvPr/>
        </p:nvSpPr>
        <p:spPr>
          <a:xfrm>
            <a:off x="952560" y="1905120"/>
            <a:ext cx="151920" cy="151920"/>
          </a:xfrm>
          <a:prstGeom prst="ellipse">
            <a:avLst/>
          </a:prstGeom>
          <a:solidFill>
            <a:srgbClr val="FF5F57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8" name="AutoShape 7"/>
          <p:cNvSpPr/>
          <p:nvPr/>
        </p:nvSpPr>
        <p:spPr>
          <a:xfrm>
            <a:off x="1206360" y="1905120"/>
            <a:ext cx="151920" cy="151920"/>
          </a:xfrm>
          <a:prstGeom prst="ellipse">
            <a:avLst/>
          </a:prstGeom>
          <a:solidFill>
            <a:srgbClr val="FFBD2E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9" name="AutoShape 8"/>
          <p:cNvSpPr/>
          <p:nvPr/>
        </p:nvSpPr>
        <p:spPr>
          <a:xfrm>
            <a:off x="1460520" y="1905120"/>
            <a:ext cx="151920" cy="151920"/>
          </a:xfrm>
          <a:prstGeom prst="ellipse">
            <a:avLst/>
          </a:prstGeom>
          <a:solidFill>
            <a:srgbClr val="27C93F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70" name="AutoShape 9"/>
          <p:cNvSpPr/>
          <p:nvPr/>
        </p:nvSpPr>
        <p:spPr>
          <a:xfrm>
            <a:off x="1905120" y="1854360"/>
            <a:ext cx="3174480" cy="30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Roboto Mono"/>
                <a:ea typeface="Roboto Mono"/>
              </a:rPr>
              <a:t>game-core.js — JavaScript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1" name="AutoShape 10"/>
          <p:cNvSpPr/>
          <p:nvPr/>
        </p:nvSpPr>
        <p:spPr>
          <a:xfrm>
            <a:off x="952560" y="2413080"/>
            <a:ext cx="5460480" cy="2793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79C6"/>
                </a:solidFill>
                <a:uFillTx/>
                <a:latin typeface="Roboto Mono"/>
                <a:ea typeface="Roboto Mono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Game {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79C6"/>
                </a:solidFill>
                <a:uFillTx/>
                <a:latin typeface="Roboto Mono"/>
                <a:ea typeface="Roboto Mono"/>
              </a:rPr>
              <a:t>constructor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(canvas) {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.ctx = canvas.getContext(</a:t>
            </a:r>
            <a:r>
              <a:rPr lang="en-US" sz="1200" b="0" u="none" strike="noStrike">
                <a:solidFill>
                  <a:srgbClr val="A5D6A7"/>
                </a:solidFill>
                <a:uFillTx/>
                <a:latin typeface="Roboto Mono"/>
                <a:ea typeface="Roboto Mono"/>
              </a:rPr>
              <a:t>'2d'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);</a:t>
            </a:r>
            <a:r>
              <a:rPr lang="en-US" sz="1200" b="0" u="none" strike="noStrike">
                <a:solidFill>
                  <a:srgbClr val="989898"/>
                </a:solidFill>
                <a:uFillTx/>
                <a:latin typeface="Roboto Mono"/>
                <a:ea typeface="Roboto Mono"/>
              </a:rPr>
              <a:t>// </a:t>
            </a:r>
            <a:r>
              <a:rPr lang="zh-CN" sz="1200" b="0" u="none" strike="noStrike">
                <a:solidFill>
                  <a:srgbClr val="989898"/>
                </a:solidFill>
                <a:uFillTx/>
                <a:latin typeface="Roboto Mono"/>
                <a:ea typeface="Roboto Mono"/>
              </a:rPr>
              <a:t>初始化绘图上下文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.score = 0;</a:t>
            </a: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.gameSpeed = 5;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gameLoop() {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79C6"/>
                </a:solidFill>
                <a:uFillTx/>
                <a:latin typeface="Roboto Mono"/>
                <a:ea typeface="Roboto Mono"/>
              </a:rPr>
              <a:t>if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(!</a:t>
            </a: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.isRunning)</a:t>
            </a:r>
            <a:r>
              <a:rPr lang="en-US" sz="1200" b="0" u="none" strike="noStrike">
                <a:solidFill>
                  <a:srgbClr val="FF79C6"/>
                </a:solidFill>
                <a:uFillTx/>
                <a:latin typeface="Roboto Mono"/>
                <a:ea typeface="Roboto Mono"/>
              </a:rPr>
              <a:t>return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;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.update();</a:t>
            </a: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.draw();</a:t>
            </a:r>
            <a:r>
              <a:rPr lang="en-US" sz="1200" b="0" u="none" strike="noStrike">
                <a:solidFill>
                  <a:srgbClr val="989898"/>
                </a:solidFill>
                <a:uFillTx/>
                <a:latin typeface="Roboto Mono"/>
                <a:ea typeface="Roboto Mono"/>
              </a:rPr>
              <a:t>// </a:t>
            </a:r>
            <a:r>
              <a:rPr lang="zh-CN" sz="1200" b="0" u="none" strike="noStrike">
                <a:solidFill>
                  <a:srgbClr val="989898"/>
                </a:solidFill>
                <a:uFillTx/>
                <a:latin typeface="Roboto Mono"/>
                <a:ea typeface="Roboto Mono"/>
              </a:rPr>
              <a:t>核心渲染流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requestAnimationFrame(() =&gt;</a:t>
            </a: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this</a:t>
            </a: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.gameLoop());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uFillTx/>
                <a:latin typeface="Roboto Mono"/>
                <a:ea typeface="Roboto Mono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72" name="AutoShape 11"/>
          <p:cNvSpPr/>
          <p:nvPr/>
        </p:nvSpPr>
        <p:spPr>
          <a:xfrm>
            <a:off x="762120" y="5715000"/>
            <a:ext cx="5841720" cy="888480"/>
          </a:xfrm>
          <a:prstGeom prst="roundRect">
            <a:avLst>
              <a:gd name="adj" fmla="val 0"/>
            </a:avLst>
          </a:prstGeom>
          <a:solidFill>
            <a:srgbClr val="2BD1FC">
              <a:alpha val="8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73" name="Picture 1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52560" y="58672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AutoShape 13"/>
          <p:cNvSpPr/>
          <p:nvPr/>
        </p:nvSpPr>
        <p:spPr>
          <a:xfrm>
            <a:off x="1397160" y="5816520"/>
            <a:ext cx="5016240" cy="685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利用 </a:t>
            </a:r>
            <a:r>
              <a:rPr lang="en-US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requestAnimationFrame </a:t>
            </a:r>
            <a:r>
              <a:rPr lang="zh-CN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驱动流畅的 </a:t>
            </a:r>
            <a:r>
              <a:rPr lang="en-US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60FPS </a:t>
            </a:r>
            <a:r>
              <a:rPr lang="zh-CN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游戏主循环，并通过经典的 </a:t>
            </a:r>
            <a:r>
              <a:rPr lang="en-US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AABB </a:t>
            </a:r>
            <a:r>
              <a:rPr lang="zh-CN" sz="1300" b="0" u="none" strike="noStrike">
                <a:solidFill>
                  <a:srgbClr val="EBEBEB"/>
                </a:solidFill>
                <a:uFillTx/>
                <a:latin typeface="Noto Sans SC"/>
                <a:ea typeface="Noto Sans SC"/>
              </a:rPr>
              <a:t>矩形碰撞检测算法，精准判断小恐龙与障碍物的接触，是实现游戏核心机制的关键。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175" name="Picture 14"/>
          <p:cNvPicPr/>
          <p:nvPr/>
        </p:nvPicPr>
        <p:blipFill>
          <a:blip r:embed="rId6"/>
          <a:srcRect t="4828" b="4828"/>
          <a:stretch/>
        </p:blipFill>
        <p:spPr>
          <a:xfrm>
            <a:off x="7112160" y="1778040"/>
            <a:ext cx="4317480" cy="2920680"/>
          </a:xfrm>
          <a:prstGeom prst="rect">
            <a:avLst/>
          </a:prstGeom>
          <a:noFill/>
          <a:ln w="25400">
            <a:solidFill>
              <a:srgbClr val="2BD1FC">
                <a:alpha val="60000"/>
              </a:srgbClr>
            </a:solidFill>
            <a:round/>
          </a:ln>
        </p:spPr>
      </p:pic>
      <p:sp>
        <p:nvSpPr>
          <p:cNvPr id="176" name="AutoShape 15"/>
          <p:cNvSpPr/>
          <p:nvPr/>
        </p:nvSpPr>
        <p:spPr>
          <a:xfrm>
            <a:off x="7112160" y="5079960"/>
            <a:ext cx="4317480" cy="13968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177" name="Connector 16"/>
          <p:cNvCxnSpPr/>
          <p:nvPr/>
        </p:nvCxnSpPr>
        <p:spPr>
          <a:xfrm>
            <a:off x="7111800" y="5079960"/>
            <a:ext cx="360" cy="1397160"/>
          </a:xfrm>
          <a:prstGeom prst="straightConnector1">
            <a:avLst/>
          </a:prstGeom>
          <a:ln w="38100">
            <a:solidFill>
              <a:srgbClr val="2BD1FC"/>
            </a:solidFill>
            <a:round/>
          </a:ln>
        </p:spPr>
      </p:cxnSp>
      <p:sp>
        <p:nvSpPr>
          <p:cNvPr id="178" name="AutoShape 17"/>
          <p:cNvSpPr/>
          <p:nvPr/>
        </p:nvSpPr>
        <p:spPr>
          <a:xfrm>
            <a:off x="7365960" y="5207040"/>
            <a:ext cx="393660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贡献者：李少华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79" name="Connector 18"/>
          <p:cNvCxnSpPr/>
          <p:nvPr/>
        </p:nvCxnSpPr>
        <p:spPr>
          <a:xfrm>
            <a:off x="7365960" y="5714640"/>
            <a:ext cx="3810240" cy="720"/>
          </a:xfrm>
          <a:prstGeom prst="straightConnector1">
            <a:avLst/>
          </a:prstGeom>
          <a:ln w="12700">
            <a:solidFill>
              <a:srgbClr val="FFFFFF">
                <a:alpha val="20000"/>
              </a:srgbClr>
            </a:solidFill>
            <a:prstDash val="dash"/>
            <a:round/>
          </a:ln>
        </p:spPr>
      </p:cxnSp>
      <p:sp>
        <p:nvSpPr>
          <p:cNvPr id="180" name="AutoShape 19"/>
          <p:cNvSpPr/>
          <p:nvPr/>
        </p:nvSpPr>
        <p:spPr>
          <a:xfrm>
            <a:off x="7365960" y="5842080"/>
            <a:ext cx="3936600" cy="571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负责核心游戏逻辑开发，封装了高性能的游戏循环与物理碰撞系统，确保了游戏运行的流畅与稳定。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82" name="AutoShape 3"/>
          <p:cNvSpPr/>
          <p:nvPr/>
        </p:nvSpPr>
        <p:spPr>
          <a:xfrm>
            <a:off x="762120" y="507960"/>
            <a:ext cx="1066752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关键代码展示（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3/4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）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- 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俄罗斯方块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83" name="AutoShape 4"/>
          <p:cNvSpPr/>
          <p:nvPr/>
        </p:nvSpPr>
        <p:spPr>
          <a:xfrm>
            <a:off x="762120" y="1523880"/>
            <a:ext cx="6095520" cy="431748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12700">
            <a:solidFill>
              <a:srgbClr val="2BD1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84" name="AutoShape 5"/>
          <p:cNvSpPr/>
          <p:nvPr/>
        </p:nvSpPr>
        <p:spPr>
          <a:xfrm>
            <a:off x="1015920" y="1778040"/>
            <a:ext cx="558756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✦ </a:t>
            </a:r>
            <a:r>
              <a:rPr lang="zh-CN" sz="1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核心贡献：李振豪 </a:t>
            </a:r>
            <a:r>
              <a:rPr lang="en-US" sz="1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负责游戏底层逻辑与方块渲染实现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85" name="Connector 6"/>
          <p:cNvCxnSpPr/>
          <p:nvPr/>
        </p:nvCxnSpPr>
        <p:spPr>
          <a:xfrm>
            <a:off x="1015920" y="2285640"/>
            <a:ext cx="5588280" cy="720"/>
          </a:xfrm>
          <a:prstGeom prst="straightConnector1">
            <a:avLst/>
          </a:prstGeom>
          <a:ln w="12700">
            <a:solidFill>
              <a:srgbClr val="2BD1FC">
                <a:alpha val="30000"/>
              </a:srgbClr>
            </a:solidFill>
            <a:prstDash val="dash"/>
            <a:round/>
          </a:ln>
        </p:spPr>
      </p:cxnSp>
      <p:sp>
        <p:nvSpPr>
          <p:cNvPr id="186" name="AutoShape 7"/>
          <p:cNvSpPr/>
          <p:nvPr/>
        </p:nvSpPr>
        <p:spPr>
          <a:xfrm>
            <a:off x="1015920" y="2540160"/>
            <a:ext cx="5587560" cy="11426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定义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10×20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的棋盘数组 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`board` 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作为游戏状态载体，初始化全零网格。通过 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`TETROMINOS` 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数组枚举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I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、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O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等七种方块的矩阵形态与霓虹配色，将几何数据与视觉属性绑定，为后续的方块生成和渲染提供了统一的数据支撑。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187" name="Connector 8"/>
          <p:cNvCxnSpPr/>
          <p:nvPr/>
        </p:nvCxnSpPr>
        <p:spPr>
          <a:xfrm>
            <a:off x="1015920" y="3809880"/>
            <a:ext cx="5588280" cy="360"/>
          </a:xfrm>
          <a:prstGeom prst="straightConnector1">
            <a:avLst/>
          </a:prstGeom>
          <a:ln w="12700">
            <a:solidFill>
              <a:srgbClr val="2BD1FC">
                <a:alpha val="30000"/>
              </a:srgbClr>
            </a:solidFill>
            <a:prstDash val="dash"/>
            <a:round/>
          </a:ln>
        </p:spPr>
      </p:cxnSp>
      <p:sp>
        <p:nvSpPr>
          <p:cNvPr id="188" name="AutoShape 9"/>
          <p:cNvSpPr/>
          <p:nvPr/>
        </p:nvSpPr>
        <p:spPr>
          <a:xfrm>
            <a:off x="1015920" y="4064040"/>
            <a:ext cx="5587560" cy="13968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核心函数 </a:t>
            </a:r>
            <a:r>
              <a:rPr lang="en-US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`clearLines()` </a:t>
            </a:r>
            <a:r>
              <a:rPr lang="zh-CN" sz="1300" b="0" u="none" strike="noStrike">
                <a:solidFill>
                  <a:srgbClr val="D1D5DB"/>
                </a:solidFill>
                <a:uFillTx/>
                <a:latin typeface="Noto Sans SC"/>
                <a:ea typeface="Noto Sans SC"/>
              </a:rPr>
              <a:t>采用逆向遍历策略，从棋盘底部向上逐行检测是否填满。若判定为满行，则通过数组拷贝将上方所有行整体下移覆盖当前行，并重置首行为空行，同时累计消除行数用于动态计分。这一逻辑简洁高效，完美还原了经典游戏的核心消除反馈机制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pic>
        <p:nvPicPr>
          <p:cNvPr id="189" name="Picture 10"/>
          <p:cNvPicPr/>
          <p:nvPr/>
        </p:nvPicPr>
        <p:blipFill>
          <a:blip r:embed="rId4"/>
          <a:srcRect t="8425" b="8425"/>
          <a:stretch/>
        </p:blipFill>
        <p:spPr>
          <a:xfrm>
            <a:off x="7365960" y="1523880"/>
            <a:ext cx="4063680" cy="3047760"/>
          </a:xfrm>
          <a:prstGeom prst="rect">
            <a:avLst/>
          </a:prstGeom>
          <a:noFill/>
          <a:ln w="25400">
            <a:solidFill>
              <a:srgbClr val="2BD1FC">
                <a:alpha val="60000"/>
              </a:srgbClr>
            </a:solidFill>
            <a:round/>
          </a:ln>
        </p:spPr>
      </p:pic>
      <p:sp>
        <p:nvSpPr>
          <p:cNvPr id="190" name="AutoShape 11"/>
          <p:cNvSpPr/>
          <p:nvPr/>
        </p:nvSpPr>
        <p:spPr>
          <a:xfrm>
            <a:off x="7365960" y="4826160"/>
            <a:ext cx="4063680" cy="12697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1" name="AutoShape 12"/>
          <p:cNvSpPr/>
          <p:nvPr/>
        </p:nvSpPr>
        <p:spPr>
          <a:xfrm>
            <a:off x="7493040" y="4952880"/>
            <a:ext cx="3809520" cy="1015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视觉与逻辑的完美耦合</a:t>
            </a:r>
            <a:endParaRPr lang="en-US" sz="15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代码中对颜色的精准十六进制定义，直接映射到游戏画面中形成强烈的霓虹视觉冲击。通过二维矩阵变换与逐行状态检测，让简单的方块组合产生了无限的策略深度，是经典游戏逻辑在现代技术框架下的优雅重构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3" name="AutoShape 3"/>
          <p:cNvSpPr/>
          <p:nvPr/>
        </p:nvSpPr>
        <p:spPr>
          <a:xfrm>
            <a:off x="762120" y="507960"/>
            <a:ext cx="10667520" cy="507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关键代码展示（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4/4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）</a:t>
            </a:r>
            <a:r>
              <a:rPr lang="en-US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- </a:t>
            </a: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代码整合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194" name="AutoShape 4"/>
          <p:cNvSpPr/>
          <p:nvPr/>
        </p:nvSpPr>
        <p:spPr>
          <a:xfrm>
            <a:off x="762120" y="1523880"/>
            <a:ext cx="5841720" cy="406368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5" name="AutoShape 5"/>
          <p:cNvSpPr/>
          <p:nvPr/>
        </p:nvSpPr>
        <p:spPr>
          <a:xfrm>
            <a:off x="762120" y="1523880"/>
            <a:ext cx="5841720" cy="456840"/>
          </a:xfrm>
          <a:prstGeom prst="roundRect">
            <a:avLst>
              <a:gd name="adj" fmla="val 0"/>
            </a:avLst>
          </a:prstGeom>
          <a:solidFill>
            <a:srgbClr val="2BD1FC">
              <a:alpha val="1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6" name="AutoShape 6"/>
          <p:cNvSpPr/>
          <p:nvPr/>
        </p:nvSpPr>
        <p:spPr>
          <a:xfrm>
            <a:off x="952560" y="1650960"/>
            <a:ext cx="151920" cy="151920"/>
          </a:xfrm>
          <a:prstGeom prst="ellipse">
            <a:avLst/>
          </a:prstGeom>
          <a:solidFill>
            <a:srgbClr val="EF4444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7" name="AutoShape 7"/>
          <p:cNvSpPr/>
          <p:nvPr/>
        </p:nvSpPr>
        <p:spPr>
          <a:xfrm>
            <a:off x="1231920" y="1650960"/>
            <a:ext cx="151920" cy="151920"/>
          </a:xfrm>
          <a:prstGeom prst="ellipse">
            <a:avLst/>
          </a:prstGeom>
          <a:solidFill>
            <a:srgbClr val="F59E0B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8" name="AutoShape 8"/>
          <p:cNvSpPr/>
          <p:nvPr/>
        </p:nvSpPr>
        <p:spPr>
          <a:xfrm>
            <a:off x="1511280" y="1650960"/>
            <a:ext cx="151920" cy="151920"/>
          </a:xfrm>
          <a:prstGeom prst="ellipse">
            <a:avLst/>
          </a:prstGeom>
          <a:solidFill>
            <a:srgbClr val="10B981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54000" rIns="63360" bIns="54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9" name="AutoShape 9"/>
          <p:cNvSpPr/>
          <p:nvPr/>
        </p:nvSpPr>
        <p:spPr>
          <a:xfrm>
            <a:off x="1905120" y="1600200"/>
            <a:ext cx="2539800" cy="304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Roboto Mono"/>
                <a:ea typeface="Roboto Mono"/>
              </a:rPr>
              <a:t>main.js — GameHub Core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0" name="AutoShape 10"/>
          <p:cNvSpPr/>
          <p:nvPr/>
        </p:nvSpPr>
        <p:spPr>
          <a:xfrm>
            <a:off x="952560" y="2158920"/>
            <a:ext cx="5460480" cy="33015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class GameHub {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constructor() { this.games = new Map(); this.currentGame = null; 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// </a:t>
            </a:r>
            <a:r>
              <a:rPr lang="zh-CN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统一注册与接口规范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registerGame(name, GameClass, cfg) { this.games.set(name, { GameClass, cfg }); 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// </a:t>
            </a:r>
            <a:r>
              <a:rPr lang="zh-CN" sz="1200" b="0" u="none" strike="noStrike">
                <a:solidFill>
                  <a:srgbClr val="2BD1FC"/>
                </a:solidFill>
                <a:uFillTx/>
                <a:latin typeface="Roboto Mono"/>
                <a:ea typeface="Roboto Mono"/>
              </a:rPr>
              <a:t>动态加载，隔离运行环境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async loadGame(name, cid) {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uFillTx/>
                <a:latin typeface="Roboto Mono"/>
                <a:ea typeface="Roboto Mono"/>
              </a:rPr>
              <a:t>const game = this.games.get(name); if (!game) throw new Error('NotFound');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this.currentGame = new game.GameClass(document.getElementById(cid), game.cfg); 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uFillTx/>
                <a:latin typeface="Roboto Mono"/>
                <a:ea typeface="Roboto Mono"/>
              </a:rPr>
              <a:t>}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1" name="AutoShape 11"/>
          <p:cNvSpPr/>
          <p:nvPr/>
        </p:nvSpPr>
        <p:spPr>
          <a:xfrm>
            <a:off x="762120" y="5842080"/>
            <a:ext cx="5841720" cy="6091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02" name="AutoShape 12"/>
          <p:cNvSpPr/>
          <p:nvPr/>
        </p:nvSpPr>
        <p:spPr>
          <a:xfrm>
            <a:off x="952560" y="5918040"/>
            <a:ext cx="5460480" cy="4568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贡献者：李想</a:t>
            </a:r>
            <a:r>
              <a:rPr lang="en-US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3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负责核心架构整合，构建模块化入口，制定团队开发规范与代码审查机制。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03" name="Connector 13"/>
          <p:cNvCxnSpPr/>
          <p:nvPr/>
        </p:nvCxnSpPr>
        <p:spPr>
          <a:xfrm>
            <a:off x="6984720" y="1650960"/>
            <a:ext cx="360" cy="469908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204" name="AutoShape 14"/>
          <p:cNvSpPr/>
          <p:nvPr/>
        </p:nvSpPr>
        <p:spPr>
          <a:xfrm>
            <a:off x="7238880" y="1650960"/>
            <a:ext cx="2222280" cy="2095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05" name="Picture 15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429680" y="184140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AutoShape 16"/>
          <p:cNvSpPr/>
          <p:nvPr/>
        </p:nvSpPr>
        <p:spPr>
          <a:xfrm>
            <a:off x="7873920" y="1841400"/>
            <a:ext cx="1460160" cy="355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模块化架构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07" name="Connector 17"/>
          <p:cNvCxnSpPr/>
          <p:nvPr/>
        </p:nvCxnSpPr>
        <p:spPr>
          <a:xfrm>
            <a:off x="7429320" y="2412720"/>
            <a:ext cx="1841760" cy="360"/>
          </a:xfrm>
          <a:prstGeom prst="straightConnector1">
            <a:avLst/>
          </a:prstGeom>
          <a:ln w="12700">
            <a:solidFill>
              <a:srgbClr val="FFFFFF">
                <a:alpha val="10000"/>
              </a:srgbClr>
            </a:solidFill>
            <a:round/>
          </a:ln>
        </p:spPr>
      </p:cxnSp>
      <p:sp>
        <p:nvSpPr>
          <p:cNvPr id="208" name="AutoShape 18"/>
          <p:cNvSpPr/>
          <p:nvPr/>
        </p:nvSpPr>
        <p:spPr>
          <a:xfrm>
            <a:off x="7365960" y="2603520"/>
            <a:ext cx="1968120" cy="952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将各游戏逻辑封装为独立模块，实现业务解耦，便于后续功能扩展与维护。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09" name="AutoShape 19"/>
          <p:cNvSpPr/>
          <p:nvPr/>
        </p:nvSpPr>
        <p:spPr>
          <a:xfrm>
            <a:off x="9588600" y="1650960"/>
            <a:ext cx="2222280" cy="2095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10" name="Picture 20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779040" y="184140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AutoShape 21"/>
          <p:cNvSpPr/>
          <p:nvPr/>
        </p:nvSpPr>
        <p:spPr>
          <a:xfrm>
            <a:off x="10223640" y="1841400"/>
            <a:ext cx="1460160" cy="355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统一生命周期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12" name="Connector 22"/>
          <p:cNvCxnSpPr/>
          <p:nvPr/>
        </p:nvCxnSpPr>
        <p:spPr>
          <a:xfrm>
            <a:off x="9778680" y="2412720"/>
            <a:ext cx="1842120" cy="360"/>
          </a:xfrm>
          <a:prstGeom prst="straightConnector1">
            <a:avLst/>
          </a:prstGeom>
          <a:ln w="12700">
            <a:solidFill>
              <a:srgbClr val="FFFFFF">
                <a:alpha val="10000"/>
              </a:srgbClr>
            </a:solidFill>
            <a:round/>
          </a:ln>
        </p:spPr>
      </p:cxnSp>
      <p:sp>
        <p:nvSpPr>
          <p:cNvPr id="213" name="AutoShape 23"/>
          <p:cNvSpPr/>
          <p:nvPr/>
        </p:nvSpPr>
        <p:spPr>
          <a:xfrm>
            <a:off x="9715680" y="2603520"/>
            <a:ext cx="1968120" cy="952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规范 </a:t>
            </a:r>
            <a:r>
              <a:rPr lang="en-US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init </a:t>
            </a: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初始化与 </a:t>
            </a:r>
            <a:r>
              <a:rPr lang="en-US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destroy </a:t>
            </a: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销毁接口，严格管理资源，杜绝内存泄漏风险。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4" name="AutoShape 24"/>
          <p:cNvSpPr/>
          <p:nvPr/>
        </p:nvSpPr>
        <p:spPr>
          <a:xfrm>
            <a:off x="7238880" y="4000680"/>
            <a:ext cx="2222280" cy="2095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15" name="Picture 25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429680" y="41911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AutoShape 26"/>
          <p:cNvSpPr/>
          <p:nvPr/>
        </p:nvSpPr>
        <p:spPr>
          <a:xfrm>
            <a:off x="7873920" y="4191120"/>
            <a:ext cx="1460160" cy="355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Git </a:t>
            </a: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协作流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17" name="Connector 27"/>
          <p:cNvCxnSpPr/>
          <p:nvPr/>
        </p:nvCxnSpPr>
        <p:spPr>
          <a:xfrm>
            <a:off x="7429320" y="4762440"/>
            <a:ext cx="1841760" cy="360"/>
          </a:xfrm>
          <a:prstGeom prst="straightConnector1">
            <a:avLst/>
          </a:prstGeom>
          <a:ln w="12700">
            <a:solidFill>
              <a:srgbClr val="FFFFFF">
                <a:alpha val="10000"/>
              </a:srgbClr>
            </a:solidFill>
            <a:round/>
          </a:ln>
        </p:spPr>
      </p:cxnSp>
      <p:sp>
        <p:nvSpPr>
          <p:cNvPr id="218" name="AutoShape 28"/>
          <p:cNvSpPr/>
          <p:nvPr/>
        </p:nvSpPr>
        <p:spPr>
          <a:xfrm>
            <a:off x="7365960" y="4952880"/>
            <a:ext cx="1968120" cy="952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采用 </a:t>
            </a:r>
            <a:r>
              <a:rPr lang="en-US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Feature Branch </a:t>
            </a: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模式管理开发任务，主干分支稳定，功能开发相互隔离。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19" name="AutoShape 29"/>
          <p:cNvSpPr/>
          <p:nvPr/>
        </p:nvSpPr>
        <p:spPr>
          <a:xfrm>
            <a:off x="9588600" y="4000680"/>
            <a:ext cx="2222280" cy="2095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20" name="Picture 30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9779040" y="41911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AutoShape 31"/>
          <p:cNvSpPr/>
          <p:nvPr/>
        </p:nvSpPr>
        <p:spPr>
          <a:xfrm>
            <a:off x="10223640" y="4191120"/>
            <a:ext cx="1460160" cy="355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质量把控</a:t>
            </a:r>
            <a:endParaRPr lang="en-US" sz="1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22" name="Connector 32"/>
          <p:cNvCxnSpPr/>
          <p:nvPr/>
        </p:nvCxnSpPr>
        <p:spPr>
          <a:xfrm>
            <a:off x="9778680" y="4762440"/>
            <a:ext cx="1842120" cy="360"/>
          </a:xfrm>
          <a:prstGeom prst="straightConnector1">
            <a:avLst/>
          </a:prstGeom>
          <a:ln w="12700">
            <a:solidFill>
              <a:srgbClr val="FFFFFF">
                <a:alpha val="10000"/>
              </a:srgbClr>
            </a:solidFill>
            <a:round/>
          </a:ln>
        </p:spPr>
      </p:cxnSp>
      <p:sp>
        <p:nvSpPr>
          <p:cNvPr id="223" name="AutoShape 33"/>
          <p:cNvSpPr/>
          <p:nvPr/>
        </p:nvSpPr>
        <p:spPr>
          <a:xfrm>
            <a:off x="9715680" y="4952880"/>
            <a:ext cx="1968120" cy="952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严格执行代码审查 </a:t>
            </a:r>
            <a:r>
              <a:rPr lang="en-US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(Code Review)</a:t>
            </a:r>
            <a:r>
              <a:rPr lang="zh-CN" sz="1200" b="0" u="none" strike="noStrike">
                <a:solidFill>
                  <a:srgbClr val="E2E8F0">
                    <a:alpha val="80000"/>
                  </a:srgbClr>
                </a:solidFill>
                <a:uFillTx/>
                <a:latin typeface="Noto Sans SC"/>
                <a:ea typeface="Noto Sans SC"/>
              </a:rPr>
              <a:t>，及时解决合并冲突，确保代码风格统一。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25" name="AutoShape 3"/>
          <p:cNvSpPr/>
          <p:nvPr/>
        </p:nvSpPr>
        <p:spPr>
          <a:xfrm>
            <a:off x="762120" y="507960"/>
            <a:ext cx="10667520" cy="571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需求文档大纲（节选）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26" name="AutoShape 4"/>
          <p:cNvSpPr/>
          <p:nvPr/>
        </p:nvSpPr>
        <p:spPr>
          <a:xfrm>
            <a:off x="762120" y="1778040"/>
            <a:ext cx="3428640" cy="39366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27" name="AutoShape 5"/>
          <p:cNvSpPr/>
          <p:nvPr/>
        </p:nvSpPr>
        <p:spPr>
          <a:xfrm>
            <a:off x="762120" y="1778040"/>
            <a:ext cx="3428640" cy="50400"/>
          </a:xfrm>
          <a:prstGeom prst="roundRect">
            <a:avLst>
              <a:gd name="adj" fmla="val 0"/>
            </a:avLst>
          </a:prstGeom>
          <a:solidFill>
            <a:srgbClr val="2BD1FC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25200" rIns="63360" bIns="252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28" name="Picture 6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52560" y="20318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AutoShape 7"/>
          <p:cNvSpPr/>
          <p:nvPr/>
        </p:nvSpPr>
        <p:spPr>
          <a:xfrm>
            <a:off x="1397160" y="2006640"/>
            <a:ext cx="26665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01 </a:t>
            </a: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游戏大厅模块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负责人：李玥峰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30" name="Connector 8"/>
          <p:cNvCxnSpPr/>
          <p:nvPr/>
        </p:nvCxnSpPr>
        <p:spPr>
          <a:xfrm>
            <a:off x="952200" y="2666880"/>
            <a:ext cx="30484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231" name="AutoShape 9"/>
          <p:cNvSpPr/>
          <p:nvPr/>
        </p:nvSpPr>
        <p:spPr>
          <a:xfrm>
            <a:off x="952560" y="2921040"/>
            <a:ext cx="3047760" cy="24127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GL-01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网格展示：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呈现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7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款游戏卡片，包含名称、描述与图标，布局清晰直观。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GL-02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实时筛选：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输入关键词动态过滤，即时隐藏不匹配项，提升查找效率。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GL-04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响应式布局：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适配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PC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端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4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列、平板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2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列、手机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1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列，全终端交互一致。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2" name="AutoShape 10"/>
          <p:cNvSpPr/>
          <p:nvPr/>
        </p:nvSpPr>
        <p:spPr>
          <a:xfrm>
            <a:off x="4381560" y="1778040"/>
            <a:ext cx="3428640" cy="39366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33" name="AutoShape 11"/>
          <p:cNvSpPr/>
          <p:nvPr/>
        </p:nvSpPr>
        <p:spPr>
          <a:xfrm>
            <a:off x="4381560" y="1778040"/>
            <a:ext cx="3428640" cy="50400"/>
          </a:xfrm>
          <a:prstGeom prst="roundRect">
            <a:avLst>
              <a:gd name="adj" fmla="val 0"/>
            </a:avLst>
          </a:prstGeom>
          <a:solidFill>
            <a:srgbClr val="2BD1FC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25200" rIns="63360" bIns="252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34" name="Picture 12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572000" y="20318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AutoShape 13"/>
          <p:cNvSpPr/>
          <p:nvPr/>
        </p:nvSpPr>
        <p:spPr>
          <a:xfrm>
            <a:off x="5016600" y="2006640"/>
            <a:ext cx="26665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02 </a:t>
            </a: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小恐龙跑酷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负责人：李少华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36" name="Connector 14"/>
          <p:cNvCxnSpPr/>
          <p:nvPr/>
        </p:nvCxnSpPr>
        <p:spPr>
          <a:xfrm>
            <a:off x="4571640" y="2666880"/>
            <a:ext cx="304848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237" name="AutoShape 15"/>
          <p:cNvSpPr/>
          <p:nvPr/>
        </p:nvSpPr>
        <p:spPr>
          <a:xfrm>
            <a:off x="4572000" y="2921040"/>
            <a:ext cx="3047760" cy="24127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DR-01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核心操作：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支持↑键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/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空格键跳跃、↓键下蹲，动作响应无延迟，反馈及时。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DR-02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随机障碍：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按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70-110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帧随机间隔生成仙人掌与飞虫，保证游戏难度可控。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DR-03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碰撞判定：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角色触碰障碍立即触发“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Game Over”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结束画面，结算游戏分数。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38" name="AutoShape 16"/>
          <p:cNvSpPr/>
          <p:nvPr/>
        </p:nvSpPr>
        <p:spPr>
          <a:xfrm>
            <a:off x="8001000" y="1778040"/>
            <a:ext cx="3428640" cy="39366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39" name="AutoShape 17"/>
          <p:cNvSpPr/>
          <p:nvPr/>
        </p:nvSpPr>
        <p:spPr>
          <a:xfrm>
            <a:off x="8001000" y="1778040"/>
            <a:ext cx="3428640" cy="50400"/>
          </a:xfrm>
          <a:prstGeom prst="roundRect">
            <a:avLst>
              <a:gd name="adj" fmla="val 0"/>
            </a:avLst>
          </a:prstGeom>
          <a:solidFill>
            <a:srgbClr val="2BD1FC"/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25200" rIns="63360" bIns="252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40" name="Picture 18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191440" y="20318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AutoShape 19"/>
          <p:cNvSpPr/>
          <p:nvPr/>
        </p:nvSpPr>
        <p:spPr>
          <a:xfrm>
            <a:off x="8636040" y="2006640"/>
            <a:ext cx="266652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03 </a:t>
            </a:r>
            <a:r>
              <a:rPr lang="zh-CN" sz="1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五子棋游戏</a:t>
            </a:r>
            <a:r>
              <a:rPr lang="en-US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| </a:t>
            </a:r>
            <a:r>
              <a:rPr lang="zh-CN" sz="13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负责人：李振豪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242" name="Connector 20"/>
          <p:cNvCxnSpPr/>
          <p:nvPr/>
        </p:nvCxnSpPr>
        <p:spPr>
          <a:xfrm>
            <a:off x="8191440" y="2666880"/>
            <a:ext cx="304812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243" name="AutoShape 21"/>
          <p:cNvSpPr/>
          <p:nvPr/>
        </p:nvSpPr>
        <p:spPr>
          <a:xfrm>
            <a:off x="8191440" y="2921040"/>
            <a:ext cx="3047760" cy="24127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GB-01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标准棋盘：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构建</a:t>
            </a:r>
            <a:r>
              <a:rPr lang="en-US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15x15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的标准五子棋棋盘，落子点位精准，棋盘网格清晰。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GB-02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双人对弈：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遵循黑棋先行规则，双方轮流落子，界面实时同步棋子状态。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GB-03 </a:t>
            </a:r>
            <a:r>
              <a:rPr lang="zh-CN" sz="14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胜负检测：</a:t>
            </a:r>
            <a:r>
              <a:rPr lang="zh-CN" sz="1300" b="0" u="none" strike="noStrike">
                <a:solidFill>
                  <a:srgbClr val="FFFFFF">
                    <a:alpha val="85000"/>
                  </a:srgbClr>
                </a:solidFill>
                <a:uFillTx/>
                <a:latin typeface="Noto Sans SC"/>
                <a:ea typeface="Noto Sans SC"/>
              </a:rPr>
              <a:t>实时校验横、竖、斜向是否达成五子连珠，判定胜利方并弹窗提示。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244" name="AutoShape 22"/>
          <p:cNvSpPr/>
          <p:nvPr/>
        </p:nvSpPr>
        <p:spPr>
          <a:xfrm>
            <a:off x="762120" y="6032520"/>
            <a:ext cx="10667520" cy="50760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45" name="AutoShape 23"/>
          <p:cNvSpPr/>
          <p:nvPr/>
        </p:nvSpPr>
        <p:spPr>
          <a:xfrm>
            <a:off x="952560" y="6095880"/>
            <a:ext cx="1028664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90000"/>
                  </a:srgbClr>
                </a:solidFill>
                <a:uFillTx/>
                <a:latin typeface="Noto Sans SC"/>
                <a:ea typeface="Noto Sans SC"/>
              </a:rPr>
              <a:t>文档价值：明确各模块核心功能与验收标准，为开发实施提供依据，保障项目交付质量与一致性。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24" name="AutoShape 3"/>
          <p:cNvSpPr/>
          <p:nvPr/>
        </p:nvSpPr>
        <p:spPr>
          <a:xfrm>
            <a:off x="762120" y="507960"/>
            <a:ext cx="1066752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代码仓库结构</a:t>
            </a:r>
            <a:endParaRPr lang="en-US" sz="3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25" name="AutoShape 4"/>
          <p:cNvSpPr/>
          <p:nvPr/>
        </p:nvSpPr>
        <p:spPr>
          <a:xfrm>
            <a:off x="762120" y="1778040"/>
            <a:ext cx="5270040" cy="368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26" name="Picture 5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15920" y="19684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AutoShape 6"/>
          <p:cNvSpPr/>
          <p:nvPr/>
        </p:nvSpPr>
        <p:spPr>
          <a:xfrm>
            <a:off x="1460520" y="1930320"/>
            <a:ext cx="431748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模块化文件组织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28" name="Connector 7"/>
          <p:cNvCxnSpPr/>
          <p:nvPr/>
        </p:nvCxnSpPr>
        <p:spPr>
          <a:xfrm>
            <a:off x="1015920" y="2539800"/>
            <a:ext cx="476280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329" name="AutoShape 8"/>
          <p:cNvSpPr/>
          <p:nvPr/>
        </p:nvSpPr>
        <p:spPr>
          <a:xfrm>
            <a:off x="1015920" y="2793960"/>
            <a:ext cx="4762080" cy="24127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以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game-hub/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为根目录，入口文件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index.html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作为游戏回廊，统一调度所有游戏模块。每个游戏均为独立 </a:t>
            </a:r>
            <a:r>
              <a:rPr lang="en-US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HTML 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文件，按开发者职责划分，结构清晰易维护。资源集中存放于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assets/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，文档归档于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docs/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，确保项目工程化规范。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60000"/>
                  </a:srgbClr>
                </a:solidFill>
                <a:uFillTx/>
                <a:latin typeface="Noto Sans SC"/>
                <a:ea typeface="Noto Sans SC"/>
              </a:rPr>
              <a:t>分工：李玥峰（入口页）、李少华（</a:t>
            </a:r>
            <a:r>
              <a:rPr lang="en-US" sz="1300" b="0" u="none" strike="noStrike">
                <a:solidFill>
                  <a:srgbClr val="FFFFFF">
                    <a:alpha val="60000"/>
                  </a:srgbClr>
                </a:solidFill>
                <a:uFillTx/>
                <a:latin typeface="Noto Sans SC"/>
                <a:ea typeface="Noto Sans SC"/>
              </a:rPr>
              <a:t>5</a:t>
            </a:r>
            <a:r>
              <a:rPr lang="zh-CN" sz="1300" b="0" u="none" strike="noStrike">
                <a:solidFill>
                  <a:srgbClr val="FFFFFF">
                    <a:alpha val="60000"/>
                  </a:srgbClr>
                </a:solidFill>
                <a:uFillTx/>
                <a:latin typeface="Noto Sans SC"/>
                <a:ea typeface="Noto Sans SC"/>
              </a:rPr>
              <a:t>款基础游戏）、李振豪（策略类游戏）。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30" name="AutoShape 9"/>
          <p:cNvSpPr/>
          <p:nvPr/>
        </p:nvSpPr>
        <p:spPr>
          <a:xfrm>
            <a:off x="6159600" y="1778040"/>
            <a:ext cx="5270040" cy="368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BD1FC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31" name="Picture 10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413400" y="19684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AutoShape 11"/>
          <p:cNvSpPr/>
          <p:nvPr/>
        </p:nvSpPr>
        <p:spPr>
          <a:xfrm>
            <a:off x="6858000" y="1930320"/>
            <a:ext cx="431748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Git Flow </a:t>
            </a:r>
            <a:r>
              <a:rPr lang="zh-CN" sz="18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分支协作策略</a:t>
            </a:r>
            <a:endParaRPr lang="en-US" sz="1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33" name="Connector 12"/>
          <p:cNvCxnSpPr/>
          <p:nvPr/>
        </p:nvCxnSpPr>
        <p:spPr>
          <a:xfrm>
            <a:off x="6413400" y="2539800"/>
            <a:ext cx="476280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sp>
        <p:nvSpPr>
          <p:cNvPr id="334" name="AutoShape 13"/>
          <p:cNvSpPr/>
          <p:nvPr/>
        </p:nvSpPr>
        <p:spPr>
          <a:xfrm>
            <a:off x="6413400" y="2793960"/>
            <a:ext cx="4762080" cy="24127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采用标准的 </a:t>
            </a:r>
            <a:r>
              <a:rPr lang="en-US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Git Flow 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工作流：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main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为生产分支，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develop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为集成分支。基于功能切分</a:t>
            </a:r>
            <a:r>
              <a:rPr lang="en-US" sz="1400" b="1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feature</a:t>
            </a:r>
            <a:r>
              <a:rPr lang="zh-CN" sz="1400" b="0" u="none" strike="noStrike">
                <a:solidFill>
                  <a:srgbClr val="E2E8F0"/>
                </a:solidFill>
                <a:uFillTx/>
                <a:latin typeface="Noto Sans SC"/>
                <a:ea typeface="Noto Sans SC"/>
              </a:rPr>
              <a:t>分支，实现界面、不同游戏模块、集成测试的并行开发，互不干扰。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FFFFFF">
                    <a:alpha val="60000"/>
                  </a:srgbClr>
                </a:solidFill>
                <a:uFillTx/>
                <a:latin typeface="Noto Sans SC"/>
                <a:ea typeface="Noto Sans SC"/>
              </a:rPr>
              <a:t>优势：代码版本可控，功能迭代独立，便于代码审查与合并，保障主干分支的稳定性。</a:t>
            </a:r>
            <a:endParaRPr lang="en-US" sz="13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35" name="AutoShape 14"/>
          <p:cNvSpPr/>
          <p:nvPr/>
        </p:nvSpPr>
        <p:spPr>
          <a:xfrm>
            <a:off x="762120" y="5715000"/>
            <a:ext cx="5270040" cy="88848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36" name="Picture 15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52560" y="58802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AutoShape 16"/>
          <p:cNvSpPr/>
          <p:nvPr/>
        </p:nvSpPr>
        <p:spPr>
          <a:xfrm>
            <a:off x="1460520" y="5816520"/>
            <a:ext cx="4444560" cy="685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职责清晰，资源归一</a:t>
            </a:r>
            <a:br>
              <a:rPr sz="1600"/>
            </a:b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每个游戏模块独立封装，静态资源与文档分类管理，降低耦合度，提升维护效率。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38" name="AutoShape 17"/>
          <p:cNvSpPr/>
          <p:nvPr/>
        </p:nvSpPr>
        <p:spPr>
          <a:xfrm>
            <a:off x="6159600" y="5715000"/>
            <a:ext cx="5270040" cy="88848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39" name="Picture 18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350040" y="58802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AutoShape 19"/>
          <p:cNvSpPr/>
          <p:nvPr/>
        </p:nvSpPr>
        <p:spPr>
          <a:xfrm>
            <a:off x="6858000" y="5816520"/>
            <a:ext cx="4444560" cy="685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分支隔离，高效并行</a:t>
            </a:r>
            <a:br>
              <a:rPr sz="1600"/>
            </a:b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Feature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分支模式让多位开发者同时推进不同任务，代码合并有序，规避版本冲突风险。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AutoShape 2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42" name="AutoShape 3"/>
          <p:cNvSpPr/>
          <p:nvPr/>
        </p:nvSpPr>
        <p:spPr>
          <a:xfrm>
            <a:off x="1015920" y="2286000"/>
            <a:ext cx="10159560" cy="7617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48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感谢聆听！</a:t>
            </a:r>
            <a:endParaRPr lang="en-US" sz="48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43" name="AutoShape 4"/>
          <p:cNvSpPr/>
          <p:nvPr/>
        </p:nvSpPr>
        <p:spPr>
          <a:xfrm>
            <a:off x="1015920" y="3429000"/>
            <a:ext cx="3809520" cy="63468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Q &amp; A</a:t>
            </a:r>
            <a:endParaRPr lang="en-US" sz="36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44" name="Connector 5"/>
          <p:cNvCxnSpPr/>
          <p:nvPr/>
        </p:nvCxnSpPr>
        <p:spPr>
          <a:xfrm>
            <a:off x="1015920" y="4317840"/>
            <a:ext cx="10160280" cy="360"/>
          </a:xfrm>
          <a:prstGeom prst="straightConnector1">
            <a:avLst/>
          </a:prstGeom>
          <a:ln w="12700">
            <a:solidFill>
              <a:srgbClr val="2BD1FC">
                <a:alpha val="30000"/>
              </a:srgbClr>
            </a:solidFill>
            <a:round/>
          </a:ln>
        </p:spPr>
      </p:cxnSp>
      <p:sp>
        <p:nvSpPr>
          <p:cNvPr id="345" name="AutoShape 6"/>
          <p:cNvSpPr/>
          <p:nvPr/>
        </p:nvSpPr>
        <p:spPr>
          <a:xfrm>
            <a:off x="1015920" y="4699080"/>
            <a:ext cx="4952520" cy="15235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46" name="Picture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270080" y="48895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AutoShape 8"/>
          <p:cNvSpPr/>
          <p:nvPr/>
        </p:nvSpPr>
        <p:spPr>
          <a:xfrm>
            <a:off x="1714680" y="4860727"/>
            <a:ext cx="406368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uFillTx/>
                <a:latin typeface="Noto Sans SC"/>
                <a:ea typeface="Noto Sans SC"/>
              </a:rPr>
              <a:t>GitHub</a:t>
            </a:r>
            <a:r>
              <a:rPr lang="zh-CN" sz="1600" b="1" u="none" strike="noStrike" dirty="0">
                <a:solidFill>
                  <a:srgbClr val="FFFFFF"/>
                </a:solidFill>
                <a:uFillTx/>
                <a:latin typeface="Noto Sans SC"/>
                <a:ea typeface="Noto Sans SC"/>
              </a:rPr>
              <a:t>仓库：</a:t>
            </a:r>
            <a:r>
              <a:rPr lang="en-US" altLang="zh-CN" sz="1600" b="1" u="none" strike="noStrike" dirty="0">
                <a:solidFill>
                  <a:srgbClr val="FFFFFF"/>
                </a:solidFill>
                <a:uFillTx/>
                <a:latin typeface="Noto Sans SC"/>
                <a:ea typeface="Noto Sans SC"/>
              </a:rPr>
              <a:t>https://github.com/lish563/7k7k.git</a:t>
            </a:r>
            <a:endParaRPr lang="en-US" sz="14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48" name="Connector 9"/>
          <p:cNvCxnSpPr/>
          <p:nvPr/>
        </p:nvCxnSpPr>
        <p:spPr>
          <a:xfrm>
            <a:off x="1269720" y="5460840"/>
            <a:ext cx="4445640" cy="36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prstDash val="dash"/>
            <a:round/>
          </a:ln>
        </p:spPr>
      </p:cxnSp>
      <p:pic>
        <p:nvPicPr>
          <p:cNvPr id="349" name="Picture 10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70080" y="56516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AutoShape 11"/>
          <p:cNvSpPr/>
          <p:nvPr/>
        </p:nvSpPr>
        <p:spPr>
          <a:xfrm>
            <a:off x="1714680" y="5613480"/>
            <a:ext cx="4063680" cy="3805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uFillTx/>
                <a:latin typeface="Noto Sans SC"/>
                <a:ea typeface="Noto Sans SC"/>
              </a:rPr>
              <a:t>在线演示：</a:t>
            </a:r>
            <a:r>
              <a:rPr lang="zh-CN" sz="1400" b="0" u="none" strike="noStrike">
                <a:solidFill>
                  <a:srgbClr val="FFFFFF">
                    <a:alpha val="80000"/>
                  </a:srgbClr>
                </a:solidFill>
                <a:uFillTx/>
                <a:latin typeface="Noto Sans SC"/>
                <a:ea typeface="Noto Sans SC"/>
              </a:rPr>
              <a:t>项目部署后更新，敬请期待体验！</a:t>
            </a:r>
            <a:endParaRPr lang="en-US" sz="14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51" name="Connector 12"/>
          <p:cNvCxnSpPr/>
          <p:nvPr/>
        </p:nvCxnSpPr>
        <p:spPr>
          <a:xfrm>
            <a:off x="6349680" y="4698720"/>
            <a:ext cx="360" cy="1524600"/>
          </a:xfrm>
          <a:prstGeom prst="straightConnector1">
            <a:avLst/>
          </a:prstGeom>
          <a:ln w="12700">
            <a:solidFill>
              <a:srgbClr val="2BD1FC">
                <a:alpha val="30000"/>
              </a:srgbClr>
            </a:solidFill>
            <a:round/>
          </a:ln>
        </p:spPr>
      </p:cxnSp>
      <p:sp>
        <p:nvSpPr>
          <p:cNvPr id="352" name="AutoShape 13"/>
          <p:cNvSpPr/>
          <p:nvPr/>
        </p:nvSpPr>
        <p:spPr>
          <a:xfrm>
            <a:off x="6603840" y="4699080"/>
            <a:ext cx="4571640" cy="1523520"/>
          </a:xfrm>
          <a:prstGeom prst="roundRect">
            <a:avLst>
              <a:gd name="adj" fmla="val 0"/>
            </a:avLst>
          </a:prstGeom>
          <a:solidFill>
            <a:srgbClr val="2BD1FC">
              <a:alpha val="10000"/>
            </a:srgbClr>
          </a:solidFill>
          <a:ln w="12700">
            <a:solidFill>
              <a:srgbClr val="2BD1FC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360" tIns="63360" rIns="63360" bIns="633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53" name="AutoShape 14"/>
          <p:cNvSpPr/>
          <p:nvPr/>
        </p:nvSpPr>
        <p:spPr>
          <a:xfrm>
            <a:off x="6730920" y="4826160"/>
            <a:ext cx="139680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开发组</a:t>
            </a:r>
            <a:br>
              <a:rPr sz="1600"/>
            </a:b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李想、李玥峰</a:t>
            </a:r>
            <a:br>
              <a:rPr sz="1600"/>
            </a:b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统筹与界面开发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54" name="Connector 15"/>
          <p:cNvCxnSpPr/>
          <p:nvPr/>
        </p:nvCxnSpPr>
        <p:spPr>
          <a:xfrm>
            <a:off x="8191440" y="4889160"/>
            <a:ext cx="360" cy="76248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355" name="AutoShape 16"/>
          <p:cNvSpPr/>
          <p:nvPr/>
        </p:nvSpPr>
        <p:spPr>
          <a:xfrm>
            <a:off x="8255160" y="4826160"/>
            <a:ext cx="139680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BD1FC"/>
                </a:solidFill>
                <a:uFillTx/>
                <a:latin typeface="Noto Sans SC"/>
                <a:ea typeface="Noto Sans SC"/>
              </a:rPr>
              <a:t>核心研发</a:t>
            </a:r>
            <a:br>
              <a:rPr sz="1600"/>
            </a:b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李少华、李振豪</a:t>
            </a:r>
            <a:br>
              <a:rPr sz="1600"/>
            </a:b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7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款经典游戏复刻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  <p:cxnSp>
        <p:nvCxnSpPr>
          <p:cNvPr id="356" name="Connector 17"/>
          <p:cNvCxnSpPr/>
          <p:nvPr/>
        </p:nvCxnSpPr>
        <p:spPr>
          <a:xfrm>
            <a:off x="9715320" y="4889160"/>
            <a:ext cx="360" cy="762480"/>
          </a:xfrm>
          <a:prstGeom prst="straightConnector1">
            <a:avLst/>
          </a:prstGeom>
          <a:ln w="12700">
            <a:solidFill>
              <a:srgbClr val="FFFFFF">
                <a:alpha val="15000"/>
              </a:srgbClr>
            </a:solidFill>
            <a:round/>
          </a:ln>
        </p:spPr>
      </p:cxnSp>
      <p:sp>
        <p:nvSpPr>
          <p:cNvPr id="357" name="AutoShape 18"/>
          <p:cNvSpPr/>
          <p:nvPr/>
        </p:nvSpPr>
        <p:spPr>
          <a:xfrm>
            <a:off x="9779040" y="4826160"/>
            <a:ext cx="1269720" cy="825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2BD1FC"/>
                </a:solidFill>
                <a:uFillTx/>
                <a:latin typeface="Noto Sans SC"/>
                <a:ea typeface="Noto Sans SC"/>
              </a:rPr>
              <a:t>视觉呈现</a:t>
            </a:r>
            <a:br>
              <a:rPr sz="1600" dirty="0"/>
            </a:br>
            <a:r>
              <a:rPr lang="zh-CN" sz="12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贾耀翔、王一鑫</a:t>
            </a:r>
            <a:r>
              <a:rPr lang="zh-CN" altLang="en-US" sz="12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、齐胜南</a:t>
            </a:r>
            <a:r>
              <a:rPr lang="zh-CN" sz="1200" b="0" u="none" strike="noStrike" dirty="0">
                <a:solidFill>
                  <a:srgbClr val="FFFFFF">
                    <a:alpha val="70000"/>
                  </a:srgbClr>
                </a:solidFill>
                <a:uFillTx/>
                <a:latin typeface="Noto Sans SC"/>
                <a:ea typeface="Noto Sans SC"/>
              </a:rPr>
              <a:t>全案设计与演示</a:t>
            </a:r>
            <a:endParaRPr lang="en-US" sz="1200" b="0" u="none" strike="noStrike" dirty="0">
              <a:solidFill>
                <a:srgbClr val="FFFFFF"/>
              </a:solidFill>
              <a:uFillTx/>
              <a:latin typeface="Noto Sans CJK SC"/>
            </a:endParaRPr>
          </a:p>
        </p:txBody>
      </p:sp>
      <p:sp>
        <p:nvSpPr>
          <p:cNvPr id="358" name="AutoShape 19"/>
          <p:cNvSpPr/>
          <p:nvPr/>
        </p:nvSpPr>
        <p:spPr>
          <a:xfrm>
            <a:off x="6730920" y="5842080"/>
            <a:ext cx="4317480" cy="2538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>
                    <a:alpha val="50000"/>
                  </a:srgbClr>
                </a:solidFill>
                <a:uFillTx/>
                <a:latin typeface="Noto Sans SC"/>
                <a:ea typeface="Noto Sans SC"/>
              </a:rPr>
              <a:t>团队协作，共同打造沉浸式经典游戏回廊体验。</a:t>
            </a:r>
            <a:endParaRPr lang="en-US" sz="1200" b="0" u="none" strike="noStrike">
              <a:solidFill>
                <a:srgbClr val="FFFFFF"/>
              </a:solidFill>
              <a:uFillTx/>
              <a:latin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3221</Words>
  <Application>Microsoft Office PowerPoint</Application>
  <PresentationFormat>宽屏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Noto Sans CJK SC</vt:lpstr>
      <vt:lpstr>Noto Sans SC</vt:lpstr>
      <vt:lpstr>Arial</vt:lpstr>
      <vt:lpstr>Roboto Mono</vt:lpstr>
      <vt:lpstr>Symbol</vt:lpstr>
      <vt:lpstr>Wingdings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HUA</dc:creator>
  <dc:description/>
  <cp:lastModifiedBy>少华 李</cp:lastModifiedBy>
  <cp:revision>6</cp:revision>
  <dcterms:created xsi:type="dcterms:W3CDTF">2026-06-11T04:54:13Z</dcterms:created>
  <dcterms:modified xsi:type="dcterms:W3CDTF">2026-06-12T14:01:38Z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{"Label":"1","ContentProducer":"001191110102MACQD9K64010000","ProduceID":"7649992275828739003","ReservedCode1":"","ContentPropagator":"","PropagateID":"","ReservedCode2":""}</vt:lpwstr>
  </property>
  <property fmtid="{D5CDD505-2E9C-101B-9397-08002B2CF9AE}" pid="3" name="ICV">
    <vt:lpwstr>95CE77B130C44BF68EE970F271195F03_13</vt:lpwstr>
  </property>
  <property fmtid="{D5CDD505-2E9C-101B-9397-08002B2CF9AE}" pid="4" name="KSOProductBuildVer">
    <vt:lpwstr>2052-12.1.0.26895</vt:lpwstr>
  </property>
  <property fmtid="{D5CDD505-2E9C-101B-9397-08002B2CF9AE}" pid="5" name="Slides">
    <vt:r8>14</vt:r8>
  </property>
</Properties>
</file>